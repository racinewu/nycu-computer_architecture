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5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97" r:id="rId6"/>
    <p:sldId id="261" r:id="rId7"/>
    <p:sldId id="265" r:id="rId8"/>
    <p:sldId id="263" r:id="rId9"/>
    <p:sldId id="264" r:id="rId10"/>
    <p:sldId id="266" r:id="rId11"/>
    <p:sldId id="268" r:id="rId12"/>
    <p:sldId id="269" r:id="rId13"/>
    <p:sldId id="270" r:id="rId14"/>
    <p:sldId id="285" r:id="rId15"/>
    <p:sldId id="287" r:id="rId16"/>
    <p:sldId id="284" r:id="rId17"/>
    <p:sldId id="286" r:id="rId18"/>
    <p:sldId id="291" r:id="rId19"/>
    <p:sldId id="293" r:id="rId20"/>
    <p:sldId id="296" r:id="rId21"/>
    <p:sldId id="294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ieh_2001 QQ" initials="cQ" lastIdx="0" clrIdx="0">
    <p:extLst>
      <p:ext uri="{19B8F6BF-5375-455C-9EA6-DF929625EA0E}">
        <p15:presenceInfo xmlns:p15="http://schemas.microsoft.com/office/powerpoint/2012/main" userId="39dc26d5891d17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00"/>
    <a:srgbClr val="D2A9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82" autoAdjust="0"/>
  </p:normalViewPr>
  <p:slideViewPr>
    <p:cSldViewPr snapToGrid="0">
      <p:cViewPr varScale="1">
        <p:scale>
          <a:sx n="100" d="100"/>
          <a:sy n="100" d="100"/>
        </p:scale>
        <p:origin x="19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3CCB0-5AE7-46CF-BA0E-B14E9A3B987A}" type="datetimeFigureOut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0194C-D702-49D1-8982-78C1CE1F90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874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A0194C-D702-49D1-8982-78C1CE1F901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978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A0194C-D702-49D1-8982-78C1CE1F901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373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D1C49-94EE-482B-ADA4-245EC8E76ADC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5502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0C78B-84C9-4A3B-8D83-57492BAE61AD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439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B15E-65FE-4964-BB48-4B84F5C21344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928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7FF556-ABB1-4232-AA8C-4B969F948ADE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80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395F7-93D1-4AEA-BB1A-4904C89D10CF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36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974ED-6C0D-4354-827F-90F3D8685389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0919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3EB3C-89AA-4F7C-94BD-AE3D6373DFBC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338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75034-5FC7-4247-96A9-E3908F923F9D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386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B1680-BA2A-4011-8DFD-13DF68C6560A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403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3BCD3-0308-4DF1-BC7F-3795E51CDC99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29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B2678-5877-426B-A86D-CA8A54D73F89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5136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5F43C-DED4-4906-B5A0-E6845FF91CF4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769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D176DA-F3C5-435C-9AD2-58948316C45E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6915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D6535-4175-4AF4-9384-5F6C5F504CFD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569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3E932-58FB-4D24-9E3A-6E1C8A3CA005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107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DEEF-39AD-4E55-A1EC-F4D9E41B49AE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644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68D44-E42A-40E2-8CD0-301B687EF843}" type="datetime1">
              <a:rPr lang="zh-TW" altLang="en-US" smtClean="0"/>
              <a:t>2025/5/22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2179B8-3DAD-4F3B-8911-27C4C54DF6F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728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gpuocelot.gatech.edu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rtualbox.org/wiki/Downloads" TargetMode="External"/><Relationship Id="rId2" Type="http://schemas.openxmlformats.org/officeDocument/2006/relationships/hyperlink" Target="https://drive.google.com/file/d/1uui8ord5aVgh4nJYUKNyEydDbUMXj7mN/view?usp=shar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wnload.virtualbox.org/virtualbox/6.1.34/VirtualBox-6.1.34-150636-Win.exe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6576491" cy="1646302"/>
          </a:xfrm>
        </p:spPr>
        <p:txBody>
          <a:bodyPr/>
          <a:lstStyle/>
          <a:p>
            <a:r>
              <a:rPr lang="en-US" altLang="zh-TW" dirty="0"/>
              <a:t>Computer Architecture:</a:t>
            </a:r>
            <a:br>
              <a:rPr lang="en-US" altLang="zh-TW" dirty="0"/>
            </a:br>
            <a:r>
              <a:rPr lang="en-US" altLang="zh-TW" sz="3200" dirty="0"/>
              <a:t>Lab0: Ocelot for CUDA Programming</a:t>
            </a:r>
            <a:br>
              <a:rPr lang="en-US" altLang="zh-TW" sz="3200" dirty="0"/>
            </a:br>
            <a:r>
              <a:rPr lang="en-US" altLang="zh-TW" sz="3200" dirty="0"/>
              <a:t>&amp; Setup Virtual Machine in PC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Computer Architecture 2025 (Prof. </a:t>
            </a:r>
            <a:r>
              <a:rPr lang="en-US" altLang="zh-TW" dirty="0" err="1"/>
              <a:t>Chih</a:t>
            </a:r>
            <a:r>
              <a:rPr lang="en-US" altLang="zh-TW" dirty="0"/>
              <a:t>-Wei Liu) </a:t>
            </a:r>
          </a:p>
          <a:p>
            <a:r>
              <a:rPr lang="en-US" altLang="zh-TW" dirty="0"/>
              <a:t>CUDA Tutorial</a:t>
            </a:r>
          </a:p>
        </p:txBody>
      </p:sp>
    </p:spTree>
    <p:extLst>
      <p:ext uri="{BB962C8B-B14F-4D97-AF65-F5344CB8AC3E}">
        <p14:creationId xmlns:p14="http://schemas.microsoft.com/office/powerpoint/2010/main" val="359030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Ocelot</a:t>
            </a:r>
            <a:r>
              <a:rPr lang="zh-TW" altLang="en-US" dirty="0"/>
              <a:t>介紹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2</a:t>
            </a:fld>
            <a:endParaRPr lang="zh-TW" altLang="en-US"/>
          </a:p>
        </p:txBody>
      </p:sp>
      <p:pic>
        <p:nvPicPr>
          <p:cNvPr id="1026" name="Picture 2" descr="New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7" t="-2" r="23852"/>
          <a:stretch/>
        </p:blipFill>
        <p:spPr bwMode="auto">
          <a:xfrm>
            <a:off x="283614" y="1270000"/>
            <a:ext cx="5633610" cy="4042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21430" y="1602766"/>
            <a:ext cx="3226776" cy="3377434"/>
          </a:xfrm>
          <a:solidFill>
            <a:schemeClr val="bg1"/>
          </a:solidFill>
        </p:spPr>
        <p:txBody>
          <a:bodyPr/>
          <a:lstStyle/>
          <a:p>
            <a:r>
              <a:rPr lang="en-US" altLang="zh-TW" sz="2400" dirty="0"/>
              <a:t>GNU</a:t>
            </a:r>
            <a:r>
              <a:rPr lang="zh-TW" altLang="en-US" sz="2400" dirty="0"/>
              <a:t> </a:t>
            </a:r>
            <a:r>
              <a:rPr lang="en-US" altLang="zh-TW" sz="2400" dirty="0"/>
              <a:t>Ocelot</a:t>
            </a:r>
          </a:p>
          <a:p>
            <a:pPr lvl="1"/>
            <a:r>
              <a:rPr lang="en-US" altLang="zh-TW" dirty="0">
                <a:hlinkClick r:id="rId3"/>
              </a:rPr>
              <a:t>http://gpuocelot.gatech.edu/</a:t>
            </a:r>
            <a:r>
              <a:rPr lang="en-US" altLang="zh-TW" dirty="0"/>
              <a:t> </a:t>
            </a:r>
          </a:p>
          <a:p>
            <a:r>
              <a:rPr lang="zh-TW" altLang="en-US" dirty="0"/>
              <a:t>能將</a:t>
            </a:r>
            <a:r>
              <a:rPr lang="en-US" altLang="zh-TW" dirty="0"/>
              <a:t>NVIDIA PTX</a:t>
            </a:r>
            <a:r>
              <a:rPr lang="zh-TW" altLang="en-US" dirty="0"/>
              <a:t>轉譯並能執行在不同類型的運算裝置上</a:t>
            </a:r>
            <a:endParaRPr lang="en-US" altLang="zh-TW" dirty="0"/>
          </a:p>
          <a:p>
            <a:pPr lvl="1"/>
            <a:r>
              <a:rPr lang="en-US" altLang="zh-TW" dirty="0"/>
              <a:t>AMD</a:t>
            </a:r>
            <a:r>
              <a:rPr lang="zh-TW" altLang="en-US" dirty="0"/>
              <a:t> </a:t>
            </a:r>
            <a:r>
              <a:rPr lang="en-US" altLang="zh-TW" dirty="0"/>
              <a:t>GPU</a:t>
            </a:r>
          </a:p>
          <a:p>
            <a:pPr lvl="1"/>
            <a:r>
              <a:rPr lang="en-US" altLang="zh-TW" dirty="0"/>
              <a:t>x86 CPU</a:t>
            </a:r>
          </a:p>
          <a:p>
            <a:r>
              <a:rPr lang="zh-TW" altLang="en-US" dirty="0"/>
              <a:t>也可做為</a:t>
            </a:r>
            <a:r>
              <a:rPr lang="en-US" altLang="zh-TW" dirty="0"/>
              <a:t>emulator</a:t>
            </a:r>
            <a:r>
              <a:rPr lang="zh-TW" altLang="en-US" dirty="0"/>
              <a:t>，當作</a:t>
            </a:r>
            <a:r>
              <a:rPr lang="en-US" altLang="zh-TW" dirty="0"/>
              <a:t>debug</a:t>
            </a:r>
            <a:r>
              <a:rPr lang="zh-TW" altLang="en-US" dirty="0"/>
              <a:t>或</a:t>
            </a:r>
            <a:r>
              <a:rPr lang="en-US" altLang="zh-TW" dirty="0"/>
              <a:t>tuning</a:t>
            </a:r>
            <a:r>
              <a:rPr lang="zh-TW" altLang="en-US" dirty="0"/>
              <a:t>的工具</a:t>
            </a:r>
          </a:p>
        </p:txBody>
      </p:sp>
    </p:spTree>
    <p:extLst>
      <p:ext uri="{BB962C8B-B14F-4D97-AF65-F5344CB8AC3E}">
        <p14:creationId xmlns:p14="http://schemas.microsoft.com/office/powerpoint/2010/main" val="250297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虛擬機器安裝</a:t>
            </a:r>
            <a:r>
              <a:rPr lang="en-US" altLang="zh-TW" dirty="0"/>
              <a:t>&amp;</a:t>
            </a:r>
            <a:r>
              <a:rPr lang="zh-TW" altLang="en-US" dirty="0"/>
              <a:t>操作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Step 1 </a:t>
            </a:r>
            <a:r>
              <a:rPr lang="zh-TW" altLang="en-US" dirty="0"/>
              <a:t>前置作業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下載</a:t>
            </a:r>
            <a:r>
              <a:rPr lang="en-US" altLang="zh-TW" dirty="0"/>
              <a:t>Linux </a:t>
            </a:r>
            <a:r>
              <a:rPr lang="zh-TW" altLang="en-US" dirty="0"/>
              <a:t>虛擬機器檔 </a:t>
            </a:r>
            <a:r>
              <a:rPr lang="en-US" altLang="zh-TW" dirty="0"/>
              <a:t>(</a:t>
            </a:r>
            <a:r>
              <a:rPr lang="zh-TW" altLang="en-US" dirty="0"/>
              <a:t>助教已安裝與設定</a:t>
            </a:r>
            <a:r>
              <a:rPr lang="en-US" altLang="zh-TW" dirty="0"/>
              <a:t>Ocelot)</a:t>
            </a:r>
            <a:endParaRPr lang="en-US" altLang="zh-TW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altLang="zh-TW" dirty="0">
                <a:hlinkClick r:id="rId2"/>
              </a:rPr>
              <a:t>https://drive.google.com/file/d/1uui8ord5aVgh4nJYUKNyEydDbUMXj7mN/view?usp=sharing</a:t>
            </a:r>
            <a:endParaRPr lang="en-US" altLang="zh-TW" dirty="0"/>
          </a:p>
          <a:p>
            <a:r>
              <a:rPr lang="zh-TW" altLang="en-US" dirty="0"/>
              <a:t>請於電腦中安裝</a:t>
            </a:r>
            <a:r>
              <a:rPr lang="en-US" altLang="zh-TW" dirty="0"/>
              <a:t>Oracle VirtualBox</a:t>
            </a:r>
          </a:p>
          <a:p>
            <a:pPr lvl="1"/>
            <a:r>
              <a:rPr lang="zh-TW" altLang="en-US" dirty="0"/>
              <a:t>下載頁面 </a:t>
            </a:r>
            <a:r>
              <a:rPr lang="en-US" altLang="zh-TW" dirty="0">
                <a:hlinkClick r:id="rId3"/>
              </a:rPr>
              <a:t>https://www.virtualbox.org/wiki/Downloads</a:t>
            </a:r>
            <a:endParaRPr lang="en-US" altLang="zh-TW" dirty="0"/>
          </a:p>
          <a:p>
            <a:pPr lvl="2"/>
            <a:r>
              <a:rPr lang="en-US" altLang="zh-TW" dirty="0"/>
              <a:t>Windows</a:t>
            </a:r>
            <a:r>
              <a:rPr lang="zh-TW" altLang="en-US" dirty="0"/>
              <a:t>安裝檔連結</a:t>
            </a:r>
            <a:r>
              <a:rPr lang="en-US" altLang="zh-TW" dirty="0">
                <a:hlinkClick r:id="rId4"/>
              </a:rPr>
              <a:t>https://download.virtualbox.org/virtualbox/6.1.34/VirtualBox-6.1.34-150636-Win.exe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282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13BC32DC-27D1-4EF8-AD0B-6C137C0AE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8" y="1987550"/>
            <a:ext cx="6735361" cy="452997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/>
          <a:p>
            <a:r>
              <a:rPr lang="zh-TW" altLang="en-US" dirty="0"/>
              <a:t>虛擬機器安裝</a:t>
            </a:r>
            <a:r>
              <a:rPr lang="en-US" altLang="zh-TW" dirty="0"/>
              <a:t>&amp;</a:t>
            </a:r>
            <a:r>
              <a:rPr lang="zh-TW" altLang="en-US" dirty="0"/>
              <a:t>操作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Step 2 </a:t>
            </a:r>
            <a:r>
              <a:rPr lang="zh-TW" altLang="en-US" dirty="0"/>
              <a:t>設定虛擬機器 </a:t>
            </a:r>
            <a:r>
              <a:rPr lang="en-US" altLang="zh-TW" dirty="0"/>
              <a:t>(</a:t>
            </a:r>
            <a:r>
              <a:rPr lang="zh-TW" altLang="en-US" dirty="0"/>
              <a:t>匯入</a:t>
            </a:r>
            <a:r>
              <a:rPr lang="en-US" altLang="zh-TW" dirty="0"/>
              <a:t>1/2)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39066" y="4329139"/>
            <a:ext cx="4193597" cy="1384995"/>
          </a:xfrm>
          <a:prstGeom prst="rect">
            <a:avLst/>
          </a:prstGeom>
          <a:solidFill>
            <a:srgbClr val="D2A91B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tx1"/>
                </a:solidFill>
              </a:rPr>
              <a:t>1.</a:t>
            </a:r>
            <a:r>
              <a:rPr lang="zh-TW" altLang="en-US" sz="2800" dirty="0">
                <a:solidFill>
                  <a:schemeClr val="tx1"/>
                </a:solidFill>
              </a:rPr>
              <a:t>請匯入助教提供的</a:t>
            </a:r>
            <a:r>
              <a:rPr lang="en-US" altLang="zh-TW" sz="2800" dirty="0">
                <a:solidFill>
                  <a:schemeClr val="tx1"/>
                </a:solidFill>
              </a:rPr>
              <a:t>Linux</a:t>
            </a:r>
            <a:r>
              <a:rPr lang="zh-TW" altLang="en-US" sz="2800" dirty="0">
                <a:solidFill>
                  <a:schemeClr val="tx1"/>
                </a:solidFill>
              </a:rPr>
              <a:t>虛擬機器檔</a:t>
            </a:r>
            <a:endParaRPr lang="en-US" altLang="zh-TW" sz="2800" dirty="0">
              <a:solidFill>
                <a:schemeClr val="tx1"/>
              </a:solidFill>
            </a:endParaRPr>
          </a:p>
          <a:p>
            <a:r>
              <a:rPr lang="en-US" altLang="zh-TW" sz="2800" dirty="0">
                <a:solidFill>
                  <a:schemeClr val="tx1"/>
                </a:solidFill>
              </a:rPr>
              <a:t>(</a:t>
            </a:r>
            <a:r>
              <a:rPr lang="en-US" altLang="zh-TW" sz="2800" dirty="0" err="1">
                <a:solidFill>
                  <a:schemeClr val="tx1"/>
                </a:solidFill>
              </a:rPr>
              <a:t>CUDA.ova</a:t>
            </a:r>
            <a:r>
              <a:rPr lang="en-US" altLang="zh-TW" sz="2800" dirty="0">
                <a:solidFill>
                  <a:schemeClr val="tx1"/>
                </a:solidFill>
              </a:rPr>
              <a:t>)</a:t>
            </a:r>
            <a:endParaRPr lang="zh-TW" altLang="en-US" sz="2800" dirty="0">
              <a:solidFill>
                <a:schemeClr val="tx1"/>
              </a:solidFill>
            </a:endParaRPr>
          </a:p>
        </p:txBody>
      </p:sp>
      <p:sp>
        <p:nvSpPr>
          <p:cNvPr id="7" name="向左箭號 6"/>
          <p:cNvSpPr/>
          <p:nvPr/>
        </p:nvSpPr>
        <p:spPr>
          <a:xfrm rot="5400000">
            <a:off x="888734" y="3321804"/>
            <a:ext cx="1348909" cy="46155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457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/>
          <a:p>
            <a:r>
              <a:rPr lang="zh-TW" altLang="en-US" dirty="0"/>
              <a:t>虛擬機器安裝</a:t>
            </a:r>
            <a:r>
              <a:rPr lang="en-US" altLang="zh-TW" dirty="0"/>
              <a:t>&amp;</a:t>
            </a:r>
            <a:r>
              <a:rPr lang="zh-TW" altLang="en-US" dirty="0"/>
              <a:t>操作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Step 2 </a:t>
            </a:r>
            <a:r>
              <a:rPr lang="zh-TW" altLang="en-US" dirty="0"/>
              <a:t>設定虛擬機器 </a:t>
            </a:r>
            <a:r>
              <a:rPr lang="en-US" altLang="zh-TW" dirty="0"/>
              <a:t>(</a:t>
            </a:r>
            <a:r>
              <a:rPr lang="zh-TW" altLang="en-US" dirty="0"/>
              <a:t>匯入</a:t>
            </a:r>
            <a:r>
              <a:rPr lang="en-US" altLang="zh-TW" dirty="0"/>
              <a:t>1/2)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EAD5D12-9131-4A9D-B549-42E4F95C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673" y="2640012"/>
            <a:ext cx="4480327" cy="39465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7A938F3-D307-48F9-BAED-C56938D45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0" y="2640012"/>
            <a:ext cx="4530082" cy="39465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33384F75-206C-423B-87FC-26B8DBA37C39}"/>
              </a:ext>
            </a:extLst>
          </p:cNvPr>
          <p:cNvSpPr txBox="1"/>
          <p:nvPr/>
        </p:nvSpPr>
        <p:spPr>
          <a:xfrm>
            <a:off x="591340" y="4983406"/>
            <a:ext cx="3442161" cy="52322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tx1"/>
                </a:solidFill>
              </a:rPr>
              <a:t>2.</a:t>
            </a:r>
            <a:r>
              <a:rPr lang="zh-TW" altLang="en-US" sz="2800" dirty="0">
                <a:solidFill>
                  <a:schemeClr val="tx1"/>
                </a:solidFill>
              </a:rPr>
              <a:t> 選擇映像檔的路徑</a:t>
            </a:r>
          </a:p>
        </p:txBody>
      </p:sp>
      <p:sp>
        <p:nvSpPr>
          <p:cNvPr id="13" name="向下箭號 9">
            <a:extLst>
              <a:ext uri="{FF2B5EF4-FFF2-40B4-BE49-F238E27FC236}">
                <a16:creationId xmlns:a16="http://schemas.microsoft.com/office/drawing/2014/main" id="{BDB5D53D-FCE6-45E1-B557-95C85CF5C042}"/>
              </a:ext>
            </a:extLst>
          </p:cNvPr>
          <p:cNvSpPr/>
          <p:nvPr/>
        </p:nvSpPr>
        <p:spPr>
          <a:xfrm rot="10800000">
            <a:off x="2069733" y="3740729"/>
            <a:ext cx="505097" cy="12092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向下箭號 9">
            <a:extLst>
              <a:ext uri="{FF2B5EF4-FFF2-40B4-BE49-F238E27FC236}">
                <a16:creationId xmlns:a16="http://schemas.microsoft.com/office/drawing/2014/main" id="{52CCD94B-D323-45DA-B45A-630D1406AC08}"/>
              </a:ext>
            </a:extLst>
          </p:cNvPr>
          <p:cNvSpPr/>
          <p:nvPr/>
        </p:nvSpPr>
        <p:spPr>
          <a:xfrm>
            <a:off x="8252271" y="5781675"/>
            <a:ext cx="358330" cy="6248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E209C2C-BE62-44D8-A64D-0268985DAC3D}"/>
              </a:ext>
            </a:extLst>
          </p:cNvPr>
          <p:cNvSpPr txBox="1"/>
          <p:nvPr/>
        </p:nvSpPr>
        <p:spPr>
          <a:xfrm>
            <a:off x="7121064" y="5165259"/>
            <a:ext cx="2022936" cy="52322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TW" sz="2800" dirty="0">
                <a:solidFill>
                  <a:schemeClr val="tx1"/>
                </a:solidFill>
              </a:rPr>
              <a:t>3.</a:t>
            </a:r>
            <a:r>
              <a:rPr lang="zh-TW" altLang="en-US" sz="2800" dirty="0">
                <a:solidFill>
                  <a:schemeClr val="tx1"/>
                </a:solidFill>
              </a:rPr>
              <a:t> 確認匯入</a:t>
            </a:r>
          </a:p>
        </p:txBody>
      </p:sp>
    </p:spTree>
    <p:extLst>
      <p:ext uri="{BB962C8B-B14F-4D97-AF65-F5344CB8AC3E}">
        <p14:creationId xmlns:p14="http://schemas.microsoft.com/office/powerpoint/2010/main" val="182957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BACF9E4-630D-4B5A-9785-CA9908E27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281" y="1986168"/>
            <a:ext cx="7129438" cy="481990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虛擬機器安裝</a:t>
            </a:r>
            <a:r>
              <a:rPr lang="en-US" altLang="zh-TW" dirty="0"/>
              <a:t>&amp;</a:t>
            </a:r>
            <a:r>
              <a:rPr lang="zh-TW" altLang="en-US" dirty="0"/>
              <a:t>操作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Step 2 </a:t>
            </a:r>
            <a:r>
              <a:rPr lang="zh-TW" altLang="en-US" dirty="0"/>
              <a:t>設定虛擬機器 </a:t>
            </a:r>
            <a:r>
              <a:rPr lang="en-US" altLang="zh-TW" dirty="0"/>
              <a:t>(</a:t>
            </a:r>
            <a:r>
              <a:rPr lang="zh-TW" altLang="en-US" dirty="0"/>
              <a:t>匯入</a:t>
            </a:r>
            <a:r>
              <a:rPr lang="en-US" altLang="zh-TW" dirty="0"/>
              <a:t>2/2)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1061629" y="4134509"/>
            <a:ext cx="1637211" cy="52322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/>
                </a:solidFill>
              </a:rPr>
              <a:t>匯入成功</a:t>
            </a:r>
          </a:p>
        </p:txBody>
      </p:sp>
      <p:sp>
        <p:nvSpPr>
          <p:cNvPr id="9" name="向左箭號 8"/>
          <p:cNvSpPr/>
          <p:nvPr/>
        </p:nvSpPr>
        <p:spPr>
          <a:xfrm rot="5400000">
            <a:off x="1588498" y="3450772"/>
            <a:ext cx="583475" cy="5399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925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8ECB367-FFBE-44D5-BA43-EE59BFD92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22" y="2035175"/>
            <a:ext cx="5793824" cy="46637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虛擬機器安裝</a:t>
            </a:r>
            <a:r>
              <a:rPr lang="en-US" altLang="zh-TW" dirty="0"/>
              <a:t>&amp;</a:t>
            </a:r>
            <a:r>
              <a:rPr lang="zh-TW" altLang="en-US" dirty="0"/>
              <a:t>操作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Step 2 </a:t>
            </a:r>
            <a:r>
              <a:rPr lang="zh-TW" altLang="en-US" dirty="0"/>
              <a:t>設定虛擬機器 </a:t>
            </a:r>
            <a:r>
              <a:rPr lang="en-US" altLang="zh-TW" dirty="0"/>
              <a:t>(</a:t>
            </a:r>
            <a:r>
              <a:rPr lang="zh-TW" altLang="en-US"/>
              <a:t>其他</a:t>
            </a:r>
            <a:r>
              <a:rPr lang="en-US" altLang="zh-TW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713156" y="3429000"/>
            <a:ext cx="1463040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記憶體容量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2672840" y="2087886"/>
            <a:ext cx="1328476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CPU</a:t>
            </a:r>
            <a:r>
              <a:rPr lang="zh-TW" altLang="en-US" dirty="0">
                <a:solidFill>
                  <a:schemeClr val="tx1"/>
                </a:solidFill>
              </a:rPr>
              <a:t>核心數</a:t>
            </a:r>
          </a:p>
        </p:txBody>
      </p:sp>
      <p:sp>
        <p:nvSpPr>
          <p:cNvPr id="8" name="向下箭號 7"/>
          <p:cNvSpPr/>
          <p:nvPr/>
        </p:nvSpPr>
        <p:spPr>
          <a:xfrm>
            <a:off x="3191419" y="2546441"/>
            <a:ext cx="317863" cy="1741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上箭號 8"/>
          <p:cNvSpPr/>
          <p:nvPr/>
        </p:nvSpPr>
        <p:spPr>
          <a:xfrm>
            <a:off x="6298333" y="3198812"/>
            <a:ext cx="292686" cy="17079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966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5DBBE8-A819-496D-BD15-030FF1947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78" y="1930400"/>
            <a:ext cx="6963298" cy="473964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虛擬機器安裝</a:t>
            </a:r>
            <a:r>
              <a:rPr lang="en-US" altLang="zh-TW" dirty="0"/>
              <a:t>&amp;</a:t>
            </a:r>
            <a:r>
              <a:rPr lang="zh-TW" altLang="en-US" dirty="0"/>
              <a:t>操作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Step 3 </a:t>
            </a:r>
            <a:r>
              <a:rPr lang="zh-TW" altLang="en-US" dirty="0"/>
              <a:t>開機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6045379" y="2441509"/>
            <a:ext cx="1441271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啟動虛擬機</a:t>
            </a:r>
          </a:p>
        </p:txBody>
      </p:sp>
      <p:sp>
        <p:nvSpPr>
          <p:cNvPr id="7" name="向左箭號 6"/>
          <p:cNvSpPr/>
          <p:nvPr/>
        </p:nvSpPr>
        <p:spPr>
          <a:xfrm>
            <a:off x="5445300" y="2500326"/>
            <a:ext cx="496389" cy="24384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182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虛擬機器安裝</a:t>
            </a:r>
            <a:r>
              <a:rPr lang="en-US" altLang="zh-TW" dirty="0"/>
              <a:t>&amp;</a:t>
            </a:r>
            <a:r>
              <a:rPr lang="zh-TW" altLang="en-US" dirty="0"/>
              <a:t>操作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en-US" altLang="zh-TW" dirty="0"/>
              <a:t>Ubuntu </a:t>
            </a:r>
            <a:r>
              <a:rPr lang="zh-TW" altLang="en-US" dirty="0"/>
              <a:t>登入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1930400"/>
            <a:ext cx="5989183" cy="4761080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2606040" y="4100976"/>
            <a:ext cx="1900227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帳號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  <a:r>
              <a:rPr lang="en-US" altLang="zh-TW" dirty="0" err="1">
                <a:solidFill>
                  <a:schemeClr val="tx1"/>
                </a:solidFill>
              </a:rPr>
              <a:t>ca_project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密碼</a:t>
            </a:r>
            <a:r>
              <a:rPr lang="en-US" altLang="zh-TW" dirty="0">
                <a:solidFill>
                  <a:schemeClr val="tx1"/>
                </a:solidFill>
              </a:rPr>
              <a:t>:nycuca2022</a:t>
            </a:r>
          </a:p>
          <a:p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請用滑鼠切換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4623414" y="4100976"/>
            <a:ext cx="1975367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請注意不要進入</a:t>
            </a:r>
            <a:r>
              <a:rPr lang="en-US" altLang="zh-TW" b="1" dirty="0">
                <a:solidFill>
                  <a:schemeClr val="tx1"/>
                </a:solidFill>
              </a:rPr>
              <a:t>guest session</a:t>
            </a:r>
            <a:r>
              <a:rPr lang="zh-TW" altLang="en-US" dirty="0">
                <a:solidFill>
                  <a:schemeClr val="tx1"/>
                </a:solidFill>
              </a:rPr>
              <a:t>，否則無法操作</a:t>
            </a:r>
            <a:r>
              <a:rPr lang="en-US" altLang="zh-TW" dirty="0">
                <a:solidFill>
                  <a:schemeClr val="tx1"/>
                </a:solidFill>
              </a:rPr>
              <a:t>LAB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82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虛擬機器安裝</a:t>
            </a:r>
            <a:r>
              <a:rPr lang="en-US" altLang="zh-TW" dirty="0"/>
              <a:t>&amp;</a:t>
            </a:r>
            <a:r>
              <a:rPr lang="zh-TW" altLang="en-US" dirty="0"/>
              <a:t>操作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zh-TW" altLang="en-US" dirty="0"/>
              <a:t>桌面環境操作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2160590"/>
            <a:ext cx="6322430" cy="474956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803640" y="1698980"/>
            <a:ext cx="4432996" cy="175432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類似</a:t>
            </a:r>
            <a:r>
              <a:rPr lang="en-US" altLang="zh-TW" dirty="0">
                <a:solidFill>
                  <a:schemeClr val="tx1"/>
                </a:solidFill>
              </a:rPr>
              <a:t>Windows</a:t>
            </a:r>
            <a:r>
              <a:rPr lang="zh-TW" altLang="en-US" dirty="0">
                <a:solidFill>
                  <a:schemeClr val="tx1"/>
                </a:solidFill>
              </a:rPr>
              <a:t>的</a:t>
            </a:r>
            <a:r>
              <a:rPr lang="en-US" altLang="zh-TW" dirty="0">
                <a:solidFill>
                  <a:schemeClr val="tx1"/>
                </a:solidFill>
              </a:rPr>
              <a:t>”</a:t>
            </a:r>
            <a:r>
              <a:rPr lang="zh-TW" altLang="en-US" dirty="0">
                <a:solidFill>
                  <a:schemeClr val="tx1"/>
                </a:solidFill>
              </a:rPr>
              <a:t>開始</a:t>
            </a:r>
            <a:r>
              <a:rPr lang="en-US" altLang="zh-TW" dirty="0">
                <a:solidFill>
                  <a:schemeClr val="tx1"/>
                </a:solidFill>
              </a:rPr>
              <a:t>”</a:t>
            </a:r>
            <a:r>
              <a:rPr lang="zh-TW" altLang="en-US" dirty="0">
                <a:solidFill>
                  <a:schemeClr val="tx1"/>
                </a:solidFill>
              </a:rPr>
              <a:t>，點開後會有常用程式，或者可以用搜尋的方式打開程式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要開終端機請打：</a:t>
            </a:r>
            <a:r>
              <a:rPr lang="en-US" altLang="zh-TW" i="1" dirty="0">
                <a:solidFill>
                  <a:srgbClr val="00B0F0"/>
                </a:solidFill>
              </a:rPr>
              <a:t>terminal</a:t>
            </a:r>
          </a:p>
          <a:p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指令操作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</a:p>
          <a:p>
            <a:r>
              <a:rPr lang="zh-TW" altLang="en-US" dirty="0">
                <a:solidFill>
                  <a:schemeClr val="tx1"/>
                </a:solidFill>
              </a:rPr>
              <a:t>要開文字編輯器請打：</a:t>
            </a:r>
            <a:r>
              <a:rPr lang="en-US" altLang="zh-TW" i="1" dirty="0" err="1">
                <a:solidFill>
                  <a:srgbClr val="00B0F0"/>
                </a:solidFill>
              </a:rPr>
              <a:t>gedit</a:t>
            </a:r>
            <a:endParaRPr lang="en-US" altLang="zh-TW" i="1" dirty="0">
              <a:solidFill>
                <a:srgbClr val="00B0F0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編輯程式碼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700577" y="2588699"/>
            <a:ext cx="1863639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關機</a:t>
            </a:r>
            <a:r>
              <a:rPr lang="en-US" altLang="zh-TW" dirty="0">
                <a:solidFill>
                  <a:schemeClr val="tx1"/>
                </a:solidFill>
              </a:rPr>
              <a:t>/</a:t>
            </a:r>
            <a:r>
              <a:rPr lang="zh-TW" altLang="en-US" dirty="0">
                <a:solidFill>
                  <a:schemeClr val="tx1"/>
                </a:solidFill>
              </a:rPr>
              <a:t>登出請按此</a:t>
            </a:r>
          </a:p>
        </p:txBody>
      </p:sp>
      <p:sp>
        <p:nvSpPr>
          <p:cNvPr id="8" name="向上箭號 7"/>
          <p:cNvSpPr/>
          <p:nvPr/>
        </p:nvSpPr>
        <p:spPr>
          <a:xfrm>
            <a:off x="6700577" y="2360023"/>
            <a:ext cx="287388" cy="17238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左箭號 8"/>
          <p:cNvSpPr/>
          <p:nvPr/>
        </p:nvSpPr>
        <p:spPr>
          <a:xfrm>
            <a:off x="870857" y="2206114"/>
            <a:ext cx="879566" cy="58724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621" y="3733047"/>
            <a:ext cx="6012996" cy="2071705"/>
          </a:xfrm>
          <a:prstGeom prst="rect">
            <a:avLst/>
          </a:prstGeom>
        </p:spPr>
      </p:pic>
      <p:sp>
        <p:nvSpPr>
          <p:cNvPr id="11" name="向下箭號 10"/>
          <p:cNvSpPr/>
          <p:nvPr/>
        </p:nvSpPr>
        <p:spPr>
          <a:xfrm>
            <a:off x="2272937" y="3502857"/>
            <a:ext cx="766355" cy="5361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086" y="5036475"/>
            <a:ext cx="4962525" cy="2009775"/>
          </a:xfrm>
          <a:prstGeom prst="rect">
            <a:avLst/>
          </a:prstGeom>
        </p:spPr>
      </p:pic>
      <p:sp>
        <p:nvSpPr>
          <p:cNvPr id="13" name="弧形箭號 (上彎) 12"/>
          <p:cNvSpPr/>
          <p:nvPr/>
        </p:nvSpPr>
        <p:spPr>
          <a:xfrm rot="21312556">
            <a:off x="2776469" y="5562264"/>
            <a:ext cx="2684696" cy="48497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371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2800" b="1" dirty="0"/>
              <a:t>Ocelot/CUDA Programming </a:t>
            </a:r>
            <a:r>
              <a:rPr lang="zh-TW" altLang="en-US" sz="2800" b="1" dirty="0"/>
              <a:t>環境操作</a:t>
            </a:r>
            <a:r>
              <a:rPr lang="en-US" altLang="zh-TW" sz="2800" b="1" dirty="0"/>
              <a:t>:</a:t>
            </a:r>
            <a:br>
              <a:rPr lang="en-US" altLang="zh-TW" dirty="0"/>
            </a:br>
            <a:r>
              <a:rPr lang="zh-TW" altLang="en-US" dirty="0"/>
              <a:t>以</a:t>
            </a:r>
            <a:r>
              <a:rPr lang="en-US" altLang="zh-TW" dirty="0"/>
              <a:t>example1</a:t>
            </a:r>
            <a:r>
              <a:rPr lang="zh-TW" altLang="en-US" dirty="0"/>
              <a:t>為例 </a:t>
            </a:r>
            <a:r>
              <a:rPr lang="en-US" altLang="zh-TW" dirty="0"/>
              <a:t>(</a:t>
            </a:r>
            <a:r>
              <a:rPr lang="zh-TW" altLang="en-US" dirty="0"/>
              <a:t>試執行程式碼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8" y="2160590"/>
            <a:ext cx="7069585" cy="3880773"/>
          </a:xfrm>
        </p:spPr>
        <p:txBody>
          <a:bodyPr/>
          <a:lstStyle/>
          <a:p>
            <a:r>
              <a:rPr lang="zh-TW" altLang="en-US" b="1" dirty="0">
                <a:solidFill>
                  <a:srgbClr val="00B0F0"/>
                </a:solidFill>
              </a:rPr>
              <a:t>提供以下</a:t>
            </a:r>
            <a:r>
              <a:rPr lang="en-US" altLang="zh-TW" b="1" dirty="0">
                <a:solidFill>
                  <a:srgbClr val="00B0F0"/>
                </a:solidFill>
              </a:rPr>
              <a:t>CUDA</a:t>
            </a:r>
            <a:r>
              <a:rPr lang="zh-TW" altLang="en-US" b="1" dirty="0">
                <a:solidFill>
                  <a:srgbClr val="00B0F0"/>
                </a:solidFill>
              </a:rPr>
              <a:t>程式碼</a:t>
            </a:r>
            <a:endParaRPr lang="en-US" altLang="zh-TW" b="1" dirty="0">
              <a:solidFill>
                <a:srgbClr val="00B0F0"/>
              </a:solidFill>
            </a:endParaRPr>
          </a:p>
          <a:p>
            <a:pPr lvl="1"/>
            <a:r>
              <a:rPr lang="en-US" altLang="zh-TW" b="1" dirty="0">
                <a:solidFill>
                  <a:srgbClr val="00B0F0"/>
                </a:solidFill>
                <a:latin typeface="Calibri" panose="020F0502020204030204" pitchFamily="34" charset="0"/>
              </a:rPr>
              <a:t>main_1.cu</a:t>
            </a:r>
          </a:p>
          <a:p>
            <a:pPr lvl="1"/>
            <a:r>
              <a:rPr lang="en-US" altLang="zh-TW" b="1" dirty="0">
                <a:solidFill>
                  <a:srgbClr val="00B0F0"/>
                </a:solidFill>
                <a:latin typeface="Calibri" panose="020F0502020204030204" pitchFamily="34" charset="0"/>
              </a:rPr>
              <a:t>main_2.cu</a:t>
            </a:r>
          </a:p>
          <a:p>
            <a:r>
              <a:rPr lang="en-US" altLang="zh-TW" dirty="0">
                <a:latin typeface="Calibri" panose="020F0502020204030204" pitchFamily="34" charset="0"/>
              </a:rPr>
              <a:t>main_cpu.cpp</a:t>
            </a:r>
            <a:r>
              <a:rPr lang="en-US" altLang="zh-TW" dirty="0"/>
              <a:t> </a:t>
            </a:r>
            <a:r>
              <a:rPr lang="zh-TW" altLang="en-US" dirty="0"/>
              <a:t>是同一程式的</a:t>
            </a:r>
            <a:r>
              <a:rPr lang="en-US" altLang="zh-TW" dirty="0"/>
              <a:t>CPU</a:t>
            </a:r>
            <a:r>
              <a:rPr lang="zh-TW" altLang="en-US" dirty="0"/>
              <a:t>版</a:t>
            </a:r>
            <a:endParaRPr lang="en-US" altLang="zh-TW" dirty="0"/>
          </a:p>
          <a:p>
            <a:r>
              <a:rPr lang="en-US" altLang="zh-TW" dirty="0" err="1">
                <a:latin typeface="Calibri" panose="020F0502020204030204" pitchFamily="34" charset="0"/>
              </a:rPr>
              <a:t>configure.ocelot</a:t>
            </a:r>
            <a:r>
              <a:rPr lang="en-US" altLang="zh-TW" dirty="0"/>
              <a:t> </a:t>
            </a:r>
            <a:r>
              <a:rPr lang="zh-TW" altLang="en-US" dirty="0"/>
              <a:t>為</a:t>
            </a:r>
            <a:r>
              <a:rPr lang="en-US" altLang="zh-TW" dirty="0"/>
              <a:t>ocelot</a:t>
            </a:r>
            <a:r>
              <a:rPr lang="zh-TW" altLang="en-US" dirty="0"/>
              <a:t>執行的設定檔</a:t>
            </a:r>
            <a:endParaRPr lang="en-US" altLang="zh-TW" dirty="0"/>
          </a:p>
          <a:p>
            <a:r>
              <a:rPr lang="zh-TW" altLang="en-US" dirty="0"/>
              <a:t>以下三個</a:t>
            </a:r>
            <a:r>
              <a:rPr lang="en-US" altLang="zh-TW" dirty="0"/>
              <a:t>script</a:t>
            </a:r>
            <a:r>
              <a:rPr lang="zh-TW" altLang="en-US" dirty="0"/>
              <a:t>檔是編譯與執行的指令</a:t>
            </a:r>
            <a:endParaRPr lang="en-US" altLang="zh-TW" dirty="0"/>
          </a:p>
          <a:p>
            <a:pPr lvl="1"/>
            <a:r>
              <a:rPr lang="en-US" altLang="zh-TW" dirty="0">
                <a:latin typeface="Calibri" panose="020F0502020204030204" pitchFamily="34" charset="0"/>
              </a:rPr>
              <a:t>compile_cpu.sh</a:t>
            </a:r>
          </a:p>
          <a:p>
            <a:pPr lvl="1"/>
            <a:r>
              <a:rPr lang="en-US" altLang="zh-TW" dirty="0">
                <a:latin typeface="Calibri" panose="020F0502020204030204" pitchFamily="34" charset="0"/>
              </a:rPr>
              <a:t>compile_gpu_1.sh</a:t>
            </a:r>
          </a:p>
          <a:p>
            <a:pPr lvl="1"/>
            <a:r>
              <a:rPr lang="en-US" altLang="zh-TW" dirty="0">
                <a:latin typeface="Calibri" panose="020F0502020204030204" pitchFamily="34" charset="0"/>
              </a:rPr>
              <a:t>compile_gpu_2.sh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8417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100" b="1" dirty="0"/>
              <a:t>Ocelot/CUDA Programming </a:t>
            </a:r>
            <a:r>
              <a:rPr lang="zh-TW" altLang="en-US" sz="3100" b="1" dirty="0"/>
              <a:t>環境操作</a:t>
            </a:r>
            <a:r>
              <a:rPr lang="en-US" altLang="zh-TW" sz="3100" b="1" dirty="0"/>
              <a:t>:</a:t>
            </a:r>
            <a:br>
              <a:rPr lang="en-US" altLang="zh-TW" dirty="0"/>
            </a:br>
            <a:r>
              <a:rPr lang="zh-TW" altLang="en-US" dirty="0"/>
              <a:t>以</a:t>
            </a:r>
            <a:r>
              <a:rPr lang="en-US" altLang="zh-TW" dirty="0"/>
              <a:t>example1</a:t>
            </a:r>
            <a:r>
              <a:rPr lang="zh-TW" altLang="en-US" dirty="0"/>
              <a:t>為例 </a:t>
            </a:r>
            <a:r>
              <a:rPr lang="en-US" altLang="zh-TW" dirty="0"/>
              <a:t>(</a:t>
            </a:r>
            <a:r>
              <a:rPr lang="zh-TW" altLang="en-US" dirty="0"/>
              <a:t>編譯</a:t>
            </a:r>
            <a:r>
              <a:rPr lang="en-US" altLang="zh-TW" dirty="0"/>
              <a:t>&amp;</a:t>
            </a:r>
            <a:r>
              <a:rPr lang="zh-TW" altLang="en-US" dirty="0"/>
              <a:t>執行</a:t>
            </a:r>
            <a:r>
              <a:rPr lang="en-US" altLang="zh-TW" dirty="0"/>
              <a:t>)(1/2)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8" y="2160589"/>
            <a:ext cx="6347714" cy="3880773"/>
          </a:xfrm>
        </p:spPr>
        <p:txBody>
          <a:bodyPr/>
          <a:lstStyle/>
          <a:p>
            <a:r>
              <a:rPr lang="zh-TW" altLang="en-US" dirty="0"/>
              <a:t>執行 </a:t>
            </a:r>
            <a:r>
              <a:rPr lang="en-US" altLang="zh-TW" dirty="0"/>
              <a:t>(</a:t>
            </a:r>
            <a:r>
              <a:rPr lang="zh-TW" altLang="en-US" dirty="0"/>
              <a:t>兩者擇一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./compile_gpu_1.sh</a:t>
            </a:r>
          </a:p>
          <a:p>
            <a:pPr lvl="1"/>
            <a:r>
              <a:rPr lang="en-US" altLang="zh-TW" dirty="0" err="1"/>
              <a:t>sh</a:t>
            </a:r>
            <a:r>
              <a:rPr lang="en-US" altLang="zh-TW" dirty="0"/>
              <a:t> compile_gpu_1.sh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3619619"/>
            <a:ext cx="7151118" cy="2421744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09607" y="5338354"/>
            <a:ext cx="3727268" cy="22642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4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100" b="1" dirty="0"/>
              <a:t>Ocelot/CUDA Programming </a:t>
            </a:r>
            <a:r>
              <a:rPr lang="zh-TW" altLang="en-US" sz="3100" b="1" dirty="0"/>
              <a:t>環境操作</a:t>
            </a:r>
            <a:r>
              <a:rPr lang="en-US" altLang="zh-TW" sz="3100" b="1" dirty="0"/>
              <a:t>:</a:t>
            </a:r>
            <a:br>
              <a:rPr lang="en-US" altLang="zh-TW" dirty="0"/>
            </a:br>
            <a:r>
              <a:rPr lang="zh-TW" altLang="en-US" dirty="0"/>
              <a:t>以</a:t>
            </a:r>
            <a:r>
              <a:rPr lang="en-US" altLang="zh-TW" dirty="0"/>
              <a:t>example1</a:t>
            </a:r>
            <a:r>
              <a:rPr lang="zh-TW" altLang="en-US" dirty="0"/>
              <a:t>為例 </a:t>
            </a:r>
            <a:r>
              <a:rPr lang="en-US" altLang="zh-TW" dirty="0"/>
              <a:t>(</a:t>
            </a:r>
            <a:r>
              <a:rPr lang="zh-TW" altLang="en-US" dirty="0"/>
              <a:t>編譯</a:t>
            </a:r>
            <a:r>
              <a:rPr lang="en-US" altLang="zh-TW" dirty="0"/>
              <a:t>&amp;</a:t>
            </a:r>
            <a:r>
              <a:rPr lang="zh-TW" altLang="en-US" dirty="0"/>
              <a:t>執行</a:t>
            </a:r>
            <a:r>
              <a:rPr lang="en-US" altLang="zh-TW" dirty="0"/>
              <a:t>)(2/2)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8" y="2160589"/>
            <a:ext cx="6347714" cy="3880773"/>
          </a:xfrm>
        </p:spPr>
        <p:txBody>
          <a:bodyPr/>
          <a:lstStyle/>
          <a:p>
            <a:r>
              <a:rPr lang="zh-TW" altLang="en-US" dirty="0"/>
              <a:t>執行 </a:t>
            </a:r>
            <a:r>
              <a:rPr lang="en-US" altLang="zh-TW" dirty="0"/>
              <a:t>(</a:t>
            </a:r>
            <a:r>
              <a:rPr lang="zh-TW" altLang="en-US" dirty="0"/>
              <a:t>兩者擇一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./compile_gpu_1.sh</a:t>
            </a:r>
          </a:p>
          <a:p>
            <a:pPr lvl="1"/>
            <a:r>
              <a:rPr lang="en-US" altLang="zh-TW" dirty="0" err="1"/>
              <a:t>sh</a:t>
            </a:r>
            <a:r>
              <a:rPr lang="en-US" altLang="zh-TW" dirty="0"/>
              <a:t> compile_gpu_1.sh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3619619"/>
            <a:ext cx="7151118" cy="242174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3680498" y="3461811"/>
            <a:ext cx="4496849" cy="64633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將所有</a:t>
            </a:r>
            <a:r>
              <a:rPr lang="en-US" altLang="zh-TW" dirty="0">
                <a:solidFill>
                  <a:schemeClr val="tx1"/>
                </a:solidFill>
              </a:rPr>
              <a:t>object</a:t>
            </a:r>
            <a:r>
              <a:rPr lang="zh-TW" altLang="en-US" dirty="0">
                <a:solidFill>
                  <a:schemeClr val="tx1"/>
                </a:solidFill>
              </a:rPr>
              <a:t>檔與外部</a:t>
            </a:r>
            <a:r>
              <a:rPr lang="en-US" altLang="zh-TW" dirty="0">
                <a:solidFill>
                  <a:schemeClr val="tx1"/>
                </a:solidFill>
              </a:rPr>
              <a:t>library</a:t>
            </a:r>
            <a:r>
              <a:rPr lang="zh-TW" altLang="en-US" dirty="0">
                <a:solidFill>
                  <a:schemeClr val="tx1"/>
                </a:solidFill>
              </a:rPr>
              <a:t>連結成執行檔</a:t>
            </a:r>
            <a:endParaRPr lang="en-US" altLang="zh-TW" i="1" dirty="0">
              <a:solidFill>
                <a:schemeClr val="tx1"/>
              </a:solidFill>
            </a:endParaRPr>
          </a:p>
          <a:p>
            <a:r>
              <a:rPr lang="en-US" altLang="zh-TW" i="1" dirty="0">
                <a:solidFill>
                  <a:schemeClr val="tx1"/>
                </a:solidFill>
              </a:rPr>
              <a:t>g++ -o main fun1.o fun2.o `</a:t>
            </a:r>
            <a:r>
              <a:rPr lang="en-US" altLang="zh-TW" i="1" dirty="0" err="1">
                <a:solidFill>
                  <a:schemeClr val="tx1"/>
                </a:solidFill>
              </a:rPr>
              <a:t>OcelotConfig</a:t>
            </a:r>
            <a:r>
              <a:rPr lang="en-US" altLang="zh-TW" i="1" dirty="0">
                <a:solidFill>
                  <a:schemeClr val="tx1"/>
                </a:solidFill>
              </a:rPr>
              <a:t> –l`</a:t>
            </a:r>
          </a:p>
        </p:txBody>
      </p:sp>
      <p:sp>
        <p:nvSpPr>
          <p:cNvPr id="7" name="向下箭號 6"/>
          <p:cNvSpPr/>
          <p:nvPr/>
        </p:nvSpPr>
        <p:spPr>
          <a:xfrm rot="2449177">
            <a:off x="2904382" y="3842665"/>
            <a:ext cx="374469" cy="18917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609595" y="5552570"/>
            <a:ext cx="5103227" cy="22642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718245" y="6406488"/>
            <a:ext cx="1267309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執行程式</a:t>
            </a:r>
            <a:endParaRPr lang="en-US" altLang="zh-TW" i="1" dirty="0">
              <a:solidFill>
                <a:schemeClr val="tx1"/>
              </a:solidFill>
            </a:endParaRPr>
          </a:p>
        </p:txBody>
      </p:sp>
      <p:sp>
        <p:nvSpPr>
          <p:cNvPr id="11" name="向上箭號 10"/>
          <p:cNvSpPr/>
          <p:nvPr/>
        </p:nvSpPr>
        <p:spPr>
          <a:xfrm>
            <a:off x="1090642" y="6058639"/>
            <a:ext cx="522514" cy="28106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483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附錄：如何存取虛擬機器中的檔案至你的電腦中</a:t>
            </a:r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592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7CE496ED-85B1-4235-8BC8-32E956B8B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85" y="1803331"/>
            <a:ext cx="7316429" cy="4911794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請將虛擬機器關機，並重新設定網路選項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3783455" y="2207068"/>
            <a:ext cx="600892" cy="62110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1BB5C9A-2D0C-4E37-B061-28034B91D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430" y="2900304"/>
            <a:ext cx="4950970" cy="3957696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5002090" y="3721896"/>
            <a:ext cx="2113650" cy="74893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7007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93" y="2959010"/>
            <a:ext cx="7286625" cy="405765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請先查詢虛擬機器的</a:t>
            </a:r>
            <a:r>
              <a:rPr lang="en-US" altLang="zh-TW" dirty="0"/>
              <a:t>IP</a:t>
            </a:r>
            <a:r>
              <a:rPr lang="zh-TW" altLang="en-US" dirty="0"/>
              <a:t>位址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開啟</a:t>
            </a:r>
            <a:r>
              <a:rPr lang="en-US" altLang="zh-TW" dirty="0"/>
              <a:t>terminal</a:t>
            </a:r>
            <a:r>
              <a:rPr lang="zh-TW" altLang="en-US" dirty="0"/>
              <a:t>，輸入以下指令</a:t>
            </a:r>
            <a:endParaRPr lang="en-US" altLang="zh-TW" dirty="0"/>
          </a:p>
          <a:p>
            <a:pPr lvl="1"/>
            <a:r>
              <a:rPr lang="en-US" altLang="zh-TW" dirty="0" err="1"/>
              <a:t>ifconfig</a:t>
            </a:r>
            <a:r>
              <a:rPr lang="en-US" altLang="zh-TW" dirty="0"/>
              <a:t> -a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173855" y="3788858"/>
            <a:ext cx="1219200" cy="24384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899953" y="4153983"/>
            <a:ext cx="1689463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此為虛擬機器在內部網路中的</a:t>
            </a:r>
            <a:r>
              <a:rPr lang="en-US" altLang="zh-TW" dirty="0">
                <a:solidFill>
                  <a:schemeClr val="tx1"/>
                </a:solidFill>
              </a:rPr>
              <a:t>IP</a:t>
            </a:r>
            <a:r>
              <a:rPr lang="zh-TW" altLang="en-US" dirty="0">
                <a:solidFill>
                  <a:schemeClr val="tx1"/>
                </a:solidFill>
              </a:rPr>
              <a:t>位址</a:t>
            </a:r>
          </a:p>
        </p:txBody>
      </p:sp>
    </p:spTree>
    <p:extLst>
      <p:ext uri="{BB962C8B-B14F-4D97-AF65-F5344CB8AC3E}">
        <p14:creationId xmlns:p14="http://schemas.microsoft.com/office/powerpoint/2010/main" val="167915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BD1A0CC7-81C4-482C-84B7-2727C5A37C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239" b="58099"/>
          <a:stretch/>
        </p:blipFill>
        <p:spPr>
          <a:xfrm>
            <a:off x="1497591" y="4643092"/>
            <a:ext cx="6148818" cy="207164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2C4FF05-EF61-4D04-A601-0503D19AE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2536906"/>
            <a:ext cx="7695160" cy="88193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在自己電腦上打開</a:t>
            </a:r>
            <a:r>
              <a:rPr lang="en-US" altLang="zh-TW" dirty="0" err="1"/>
              <a:t>Filezilla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3610300"/>
            <a:ext cx="6347714" cy="2431063"/>
          </a:xfrm>
        </p:spPr>
        <p:txBody>
          <a:bodyPr/>
          <a:lstStyle/>
          <a:p>
            <a:r>
              <a:rPr lang="zh-TW" altLang="en-US" dirty="0"/>
              <a:t>由於此網路環境無法對外聯網，請同學存取完檔案後，關機進入設定頁面，將網路改回原來的設定 </a:t>
            </a:r>
            <a:r>
              <a:rPr lang="en-US" altLang="zh-TW" dirty="0"/>
              <a:t>(</a:t>
            </a:r>
            <a:r>
              <a:rPr lang="zh-TW" altLang="en-US" dirty="0"/>
              <a:t>可參考</a:t>
            </a:r>
            <a:r>
              <a:rPr lang="en-US" altLang="zh-TW" dirty="0"/>
              <a:t>step2)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2441499" y="5678913"/>
            <a:ext cx="3740464" cy="74893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32932" y="1802449"/>
            <a:ext cx="2499360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輸入上頁查詢的</a:t>
            </a:r>
            <a:r>
              <a:rPr lang="en-US" altLang="zh-TW" dirty="0">
                <a:solidFill>
                  <a:schemeClr val="tx1"/>
                </a:solidFill>
              </a:rPr>
              <a:t>IP</a:t>
            </a:r>
            <a:r>
              <a:rPr lang="zh-TW" altLang="en-US" dirty="0">
                <a:solidFill>
                  <a:schemeClr val="tx1"/>
                </a:solidFill>
              </a:rPr>
              <a:t>位址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2975297" y="1530875"/>
            <a:ext cx="1336434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輸入虛擬機器的帳號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en-US" altLang="zh-TW" dirty="0" err="1">
                <a:solidFill>
                  <a:schemeClr val="tx1"/>
                </a:solidFill>
              </a:rPr>
              <a:t>ca_project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690190" y="1530875"/>
            <a:ext cx="1385499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輸入虛擬機器的密碼</a:t>
            </a:r>
            <a:endParaRPr lang="en-US" altLang="zh-TW" dirty="0">
              <a:solidFill>
                <a:schemeClr val="tx1"/>
              </a:solidFill>
            </a:endParaRPr>
          </a:p>
          <a:p>
            <a:r>
              <a:rPr lang="en-US" altLang="zh-TW" dirty="0">
                <a:solidFill>
                  <a:schemeClr val="tx1"/>
                </a:solidFill>
              </a:rPr>
              <a:t>(nycuca2022)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向下箭號 9"/>
          <p:cNvSpPr/>
          <p:nvPr/>
        </p:nvSpPr>
        <p:spPr>
          <a:xfrm>
            <a:off x="1125561" y="2313310"/>
            <a:ext cx="714103" cy="7152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向下箭號 10"/>
          <p:cNvSpPr/>
          <p:nvPr/>
        </p:nvSpPr>
        <p:spPr>
          <a:xfrm>
            <a:off x="3286463" y="2599046"/>
            <a:ext cx="714103" cy="3659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向下箭號 11"/>
          <p:cNvSpPr/>
          <p:nvPr/>
        </p:nvSpPr>
        <p:spPr>
          <a:xfrm>
            <a:off x="5025889" y="2588545"/>
            <a:ext cx="714103" cy="3893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9327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附錄：無法啟動虛擬機器</a:t>
            </a:r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原因：</a:t>
            </a:r>
            <a:r>
              <a:rPr lang="en-US" altLang="zh-TW" dirty="0"/>
              <a:t>CPU</a:t>
            </a:r>
            <a:r>
              <a:rPr lang="zh-TW" altLang="en-US" dirty="0"/>
              <a:t>未開啟或未支援</a:t>
            </a:r>
            <a:r>
              <a:rPr lang="en-US" altLang="zh-TW" dirty="0"/>
              <a:t>VM</a:t>
            </a:r>
            <a:r>
              <a:rPr lang="zh-TW" altLang="en-US" dirty="0"/>
              <a:t>加速功能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71927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5391149" cy="13208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Q:</a:t>
            </a:r>
            <a:r>
              <a:rPr lang="zh-TW" altLang="en-US" dirty="0"/>
              <a:t>無法啟動虛擬機器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zh-TW" altLang="en-US" dirty="0"/>
              <a:t>原因：</a:t>
            </a:r>
            <a:r>
              <a:rPr lang="en-US" altLang="zh-TW" dirty="0"/>
              <a:t>CPU</a:t>
            </a:r>
            <a:r>
              <a:rPr lang="zh-TW" altLang="en-US" dirty="0"/>
              <a:t>未開啟或未支援</a:t>
            </a:r>
            <a:r>
              <a:rPr lang="en-US" altLang="zh-TW" dirty="0"/>
              <a:t>VM</a:t>
            </a:r>
            <a:r>
              <a:rPr lang="zh-TW" altLang="en-US" dirty="0"/>
              <a:t>加速功能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19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8" y="2160590"/>
            <a:ext cx="5391150" cy="401955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65670" y="3985699"/>
            <a:ext cx="1883120" cy="36933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請點開詳細資料</a:t>
            </a:r>
            <a:endParaRPr lang="en-US" altLang="zh-TW" dirty="0">
              <a:solidFill>
                <a:schemeClr val="tx1"/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6130395" y="244475"/>
            <a:ext cx="2950230" cy="147732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解決方法</a:t>
            </a:r>
            <a:r>
              <a:rPr lang="en-US" altLang="zh-TW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TW" altLang="en-US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en-US" altLang="zh-TW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請重開機進入主機板</a:t>
            </a:r>
            <a:r>
              <a:rPr lang="en-US" altLang="zh-TW" dirty="0">
                <a:solidFill>
                  <a:schemeClr val="tx1"/>
                </a:solidFill>
              </a:rPr>
              <a:t>BIOS (</a:t>
            </a:r>
            <a:r>
              <a:rPr lang="zh-TW" altLang="en-US" dirty="0">
                <a:solidFill>
                  <a:schemeClr val="tx1"/>
                </a:solidFill>
              </a:rPr>
              <a:t>各家不同請自己查詢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，開啟</a:t>
            </a:r>
            <a:r>
              <a:rPr lang="en-US" altLang="zh-TW" dirty="0">
                <a:solidFill>
                  <a:schemeClr val="tx1"/>
                </a:solidFill>
              </a:rPr>
              <a:t>CPU</a:t>
            </a:r>
            <a:r>
              <a:rPr lang="zh-TW" altLang="en-US" dirty="0">
                <a:solidFill>
                  <a:schemeClr val="tx1"/>
                </a:solidFill>
              </a:rPr>
              <a:t>的虛擬化技術功能。 </a:t>
            </a:r>
            <a:r>
              <a:rPr lang="en-US" altLang="zh-TW" dirty="0">
                <a:solidFill>
                  <a:schemeClr val="tx1"/>
                </a:solidFill>
              </a:rPr>
              <a:t>[Intel </a:t>
            </a:r>
            <a:r>
              <a:rPr lang="en-US" altLang="zh-TW" dirty="0" err="1">
                <a:solidFill>
                  <a:schemeClr val="tx1"/>
                </a:solidFill>
              </a:rPr>
              <a:t>vt</a:t>
            </a:r>
            <a:r>
              <a:rPr lang="en-US" altLang="zh-TW" dirty="0">
                <a:solidFill>
                  <a:schemeClr val="tx1"/>
                </a:solidFill>
              </a:rPr>
              <a:t>-*] or [AMD-v]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6130395" y="1930400"/>
            <a:ext cx="2950231" cy="480131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TW" altLang="en-US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解決方法</a:t>
            </a:r>
            <a:r>
              <a:rPr lang="en-US" altLang="zh-TW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TW" altLang="en-US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en-US" altLang="zh-TW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tx1"/>
                </a:solidFill>
              </a:rPr>
              <a:t>請在左欄虛擬主機按右鍵</a:t>
            </a:r>
            <a:r>
              <a:rPr lang="en-US" altLang="zh-TW" dirty="0">
                <a:solidFill>
                  <a:schemeClr val="tx1"/>
                </a:solidFill>
              </a:rPr>
              <a:t>【</a:t>
            </a:r>
            <a:r>
              <a:rPr lang="zh-TW" altLang="en-US" dirty="0">
                <a:solidFill>
                  <a:schemeClr val="tx1"/>
                </a:solidFill>
              </a:rPr>
              <a:t>移除</a:t>
            </a:r>
            <a:r>
              <a:rPr lang="en-US" altLang="zh-TW" dirty="0">
                <a:solidFill>
                  <a:schemeClr val="tx1"/>
                </a:solidFill>
              </a:rPr>
              <a:t>】</a:t>
            </a: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tx1"/>
                </a:solidFill>
              </a:rPr>
              <a:t>移除時會有詢問視窗，請點</a:t>
            </a:r>
            <a:r>
              <a:rPr lang="en-US" altLang="zh-TW" dirty="0">
                <a:solidFill>
                  <a:schemeClr val="tx1"/>
                </a:solidFill>
              </a:rPr>
              <a:t>【</a:t>
            </a:r>
            <a:r>
              <a:rPr lang="zh-TW" altLang="en-US" dirty="0">
                <a:solidFill>
                  <a:schemeClr val="tx1"/>
                </a:solidFill>
              </a:rPr>
              <a:t>僅移除</a:t>
            </a:r>
            <a:r>
              <a:rPr lang="en-US" altLang="zh-TW" dirty="0">
                <a:solidFill>
                  <a:schemeClr val="tx1"/>
                </a:solidFill>
              </a:rPr>
              <a:t>】</a:t>
            </a: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tx1"/>
                </a:solidFill>
              </a:rPr>
              <a:t>重新</a:t>
            </a:r>
            <a:r>
              <a:rPr lang="en-US" altLang="zh-TW" dirty="0">
                <a:solidFill>
                  <a:schemeClr val="tx1"/>
                </a:solidFill>
              </a:rPr>
              <a:t>【</a:t>
            </a:r>
            <a:r>
              <a:rPr lang="zh-TW" altLang="en-US" dirty="0">
                <a:solidFill>
                  <a:schemeClr val="tx1"/>
                </a:solidFill>
              </a:rPr>
              <a:t>新增</a:t>
            </a:r>
            <a:r>
              <a:rPr lang="en-US" altLang="zh-TW" dirty="0">
                <a:solidFill>
                  <a:schemeClr val="tx1"/>
                </a:solidFill>
              </a:rPr>
              <a:t>】</a:t>
            </a:r>
            <a:r>
              <a:rPr lang="zh-TW" altLang="en-US" dirty="0">
                <a:solidFill>
                  <a:schemeClr val="tx1"/>
                </a:solidFill>
              </a:rPr>
              <a:t>虛擬機器</a:t>
            </a:r>
            <a:endParaRPr lang="en-US" altLang="zh-TW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tx1"/>
                </a:solidFill>
              </a:rPr>
              <a:t>名稱請打</a:t>
            </a:r>
            <a:r>
              <a:rPr lang="en-US" altLang="zh-TW" dirty="0">
                <a:solidFill>
                  <a:schemeClr val="tx1"/>
                </a:solidFill>
              </a:rPr>
              <a:t>Ubuntu</a:t>
            </a: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en-US" altLang="zh-TW" dirty="0">
                <a:solidFill>
                  <a:schemeClr val="tx1"/>
                </a:solidFill>
              </a:rPr>
              <a:t>【</a:t>
            </a:r>
            <a:r>
              <a:rPr lang="zh-TW" altLang="en-US" dirty="0">
                <a:solidFill>
                  <a:schemeClr val="tx1"/>
                </a:solidFill>
              </a:rPr>
              <a:t>記憶體</a:t>
            </a:r>
            <a:r>
              <a:rPr lang="en-US" altLang="zh-TW" dirty="0">
                <a:solidFill>
                  <a:schemeClr val="tx1"/>
                </a:solidFill>
              </a:rPr>
              <a:t>】</a:t>
            </a:r>
            <a:r>
              <a:rPr lang="zh-TW" altLang="en-US" dirty="0">
                <a:solidFill>
                  <a:schemeClr val="tx1"/>
                </a:solidFill>
              </a:rPr>
              <a:t>用量請自填</a:t>
            </a:r>
            <a:endParaRPr lang="en-US" altLang="zh-TW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en-US" altLang="zh-TW" dirty="0">
                <a:solidFill>
                  <a:schemeClr val="tx1"/>
                </a:solidFill>
              </a:rPr>
              <a:t>【</a:t>
            </a:r>
            <a:r>
              <a:rPr lang="zh-TW" altLang="en-US" dirty="0">
                <a:solidFill>
                  <a:schemeClr val="tx1"/>
                </a:solidFill>
              </a:rPr>
              <a:t>硬碟</a:t>
            </a:r>
            <a:r>
              <a:rPr lang="en-US" altLang="zh-TW" dirty="0">
                <a:solidFill>
                  <a:schemeClr val="tx1"/>
                </a:solidFill>
              </a:rPr>
              <a:t>】</a:t>
            </a:r>
            <a:r>
              <a:rPr lang="zh-TW" altLang="en-US" dirty="0">
                <a:solidFill>
                  <a:schemeClr val="tx1"/>
                </a:solidFill>
              </a:rPr>
              <a:t>請選</a:t>
            </a:r>
            <a:r>
              <a:rPr lang="en-US" altLang="zh-TW" dirty="0">
                <a:solidFill>
                  <a:schemeClr val="tx1"/>
                </a:solidFill>
              </a:rPr>
              <a:t>【</a:t>
            </a:r>
            <a:r>
              <a:rPr lang="zh-TW" altLang="en-US" dirty="0">
                <a:solidFill>
                  <a:schemeClr val="tx1"/>
                </a:solidFill>
              </a:rPr>
              <a:t>使用現有虛擬硬碟檔</a:t>
            </a:r>
            <a:r>
              <a:rPr lang="en-US" altLang="zh-TW" dirty="0">
                <a:solidFill>
                  <a:schemeClr val="tx1"/>
                </a:solidFill>
              </a:rPr>
              <a:t>】[</a:t>
            </a:r>
            <a:r>
              <a:rPr lang="en-US" altLang="zh-TW" dirty="0" err="1">
                <a:solidFill>
                  <a:schemeClr val="tx1"/>
                </a:solidFill>
              </a:rPr>
              <a:t>CUDA_Ubuntu</a:t>
            </a:r>
            <a:r>
              <a:rPr lang="en-US" altLang="zh-TW" dirty="0">
                <a:solidFill>
                  <a:schemeClr val="tx1"/>
                </a:solidFill>
              </a:rPr>
              <a:t>…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.</a:t>
            </a:r>
            <a:r>
              <a:rPr lang="en-US" altLang="zh-TW" dirty="0" err="1">
                <a:solidFill>
                  <a:schemeClr val="tx1"/>
                </a:solidFill>
              </a:rPr>
              <a:t>vmdk</a:t>
            </a:r>
            <a:r>
              <a:rPr lang="en-US" altLang="zh-TW" dirty="0">
                <a:solidFill>
                  <a:schemeClr val="tx1"/>
                </a:solidFill>
              </a:rPr>
              <a:t> 8G</a:t>
            </a:r>
            <a:r>
              <a:rPr lang="zh-TW" altLang="en-US" dirty="0">
                <a:solidFill>
                  <a:schemeClr val="tx1"/>
                </a:solidFill>
              </a:rPr>
              <a:t>容量</a:t>
            </a:r>
            <a:r>
              <a:rPr lang="en-US" altLang="zh-TW" dirty="0">
                <a:solidFill>
                  <a:schemeClr val="tx1"/>
                </a:solidFill>
              </a:rPr>
              <a:t>]</a:t>
            </a: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tx1"/>
                </a:solidFill>
              </a:rPr>
              <a:t>完成新增後，再按照助教設定網路</a:t>
            </a:r>
            <a:endParaRPr lang="en-US" altLang="zh-TW" dirty="0">
              <a:solidFill>
                <a:schemeClr val="tx1"/>
              </a:solidFill>
            </a:endParaRPr>
          </a:p>
          <a:p>
            <a:pPr marL="342900" indent="-342900">
              <a:buFont typeface="Wingdings" panose="05000000000000000000" pitchFamily="2" charset="2"/>
              <a:buAutoNum type="circleNumWdWhitePlain"/>
            </a:pPr>
            <a:r>
              <a:rPr lang="zh-TW" altLang="en-US" dirty="0">
                <a:solidFill>
                  <a:schemeClr val="tx1"/>
                </a:solidFill>
              </a:rPr>
              <a:t>最後請至</a:t>
            </a:r>
            <a:r>
              <a:rPr lang="en-US" altLang="zh-TW" dirty="0">
                <a:solidFill>
                  <a:schemeClr val="tx1"/>
                </a:solidFill>
              </a:rPr>
              <a:t>【</a:t>
            </a:r>
            <a:r>
              <a:rPr lang="zh-TW" altLang="en-US" dirty="0">
                <a:solidFill>
                  <a:schemeClr val="tx1"/>
                </a:solidFill>
              </a:rPr>
              <a:t>設定值</a:t>
            </a:r>
            <a:r>
              <a:rPr lang="en-US" altLang="zh-TW" dirty="0">
                <a:solidFill>
                  <a:schemeClr val="tx1"/>
                </a:solidFill>
              </a:rPr>
              <a:t>】-&gt;【</a:t>
            </a:r>
            <a:r>
              <a:rPr lang="zh-TW" altLang="en-US" dirty="0">
                <a:solidFill>
                  <a:schemeClr val="tx1"/>
                </a:solidFill>
              </a:rPr>
              <a:t>系統</a:t>
            </a:r>
            <a:r>
              <a:rPr lang="en-US" altLang="zh-TW" dirty="0">
                <a:solidFill>
                  <a:schemeClr val="tx1"/>
                </a:solidFill>
              </a:rPr>
              <a:t>】-&gt;【</a:t>
            </a:r>
            <a:r>
              <a:rPr lang="zh-TW" altLang="en-US" dirty="0">
                <a:solidFill>
                  <a:schemeClr val="tx1"/>
                </a:solidFill>
              </a:rPr>
              <a:t>處理器</a:t>
            </a:r>
            <a:r>
              <a:rPr lang="en-US" altLang="zh-TW" dirty="0">
                <a:solidFill>
                  <a:schemeClr val="tx1"/>
                </a:solidFill>
              </a:rPr>
              <a:t>】</a:t>
            </a:r>
            <a:r>
              <a:rPr lang="zh-TW" altLang="en-US" dirty="0">
                <a:solidFill>
                  <a:schemeClr val="tx1"/>
                </a:solidFill>
              </a:rPr>
              <a:t>將</a:t>
            </a:r>
            <a:r>
              <a:rPr lang="en-US" altLang="zh-TW" dirty="0">
                <a:solidFill>
                  <a:schemeClr val="tx1"/>
                </a:solidFill>
              </a:rPr>
              <a:t>【</a:t>
            </a:r>
            <a:r>
              <a:rPr lang="zh-TW" altLang="en-US" dirty="0">
                <a:solidFill>
                  <a:schemeClr val="tx1"/>
                </a:solidFill>
              </a:rPr>
              <a:t>啟用</a:t>
            </a:r>
            <a:r>
              <a:rPr lang="en-US" altLang="zh-TW" dirty="0">
                <a:solidFill>
                  <a:schemeClr val="tx1"/>
                </a:solidFill>
              </a:rPr>
              <a:t>PAE/NX】</a:t>
            </a:r>
            <a:r>
              <a:rPr lang="zh-TW" altLang="en-US" dirty="0">
                <a:solidFill>
                  <a:schemeClr val="tx1"/>
                </a:solidFill>
              </a:rPr>
              <a:t>勾起</a:t>
            </a:r>
            <a:endParaRPr lang="en-US" altLang="zh-TW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519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附錄：其他</a:t>
            </a:r>
          </a:p>
        </p:txBody>
      </p:sp>
      <p:sp>
        <p:nvSpPr>
          <p:cNvPr id="6" name="文字版面配置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3178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VirualBox</a:t>
            </a:r>
            <a:r>
              <a:rPr lang="en-US" altLang="zh-TW" dirty="0"/>
              <a:t> Guest Additions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8" y="2160590"/>
            <a:ext cx="7402287" cy="3880773"/>
          </a:xfrm>
        </p:spPr>
        <p:txBody>
          <a:bodyPr/>
          <a:lstStyle/>
          <a:p>
            <a:r>
              <a:rPr lang="zh-TW" altLang="en-US" sz="2400" dirty="0"/>
              <a:t>讓虛擬機器能調整螢幕大小</a:t>
            </a:r>
            <a:endParaRPr lang="en-US" altLang="zh-TW" sz="2400" dirty="0"/>
          </a:p>
          <a:p>
            <a:r>
              <a:rPr lang="zh-TW" altLang="en-US" sz="2400" dirty="0"/>
              <a:t>支援滑鼠滾輪</a:t>
            </a:r>
            <a:endParaRPr lang="en-US" altLang="zh-TW" sz="2400" dirty="0"/>
          </a:p>
          <a:p>
            <a:endParaRPr lang="en-US" altLang="zh-TW" dirty="0"/>
          </a:p>
          <a:p>
            <a:r>
              <a:rPr lang="zh-TW" altLang="en-US" dirty="0"/>
              <a:t>安裝</a:t>
            </a:r>
            <a:r>
              <a:rPr lang="en-US" altLang="zh-TW" dirty="0" err="1"/>
              <a:t>VirtualBox</a:t>
            </a:r>
            <a:r>
              <a:rPr lang="en-US" altLang="zh-TW" dirty="0"/>
              <a:t> Guest Additions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密碼請輸入</a:t>
            </a:r>
            <a:r>
              <a:rPr lang="en-US" altLang="zh-TW" dirty="0"/>
              <a:t>nycuca2022)</a:t>
            </a:r>
          </a:p>
          <a:p>
            <a:pPr lvl="1"/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apt-get install </a:t>
            </a:r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virtualbox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-guest-additions</a:t>
            </a:r>
          </a:p>
          <a:p>
            <a:pPr lvl="1"/>
            <a:r>
              <a:rPr lang="en-US" altLang="zh-TW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altLang="zh-TW" dirty="0">
                <a:latin typeface="Courier New" panose="02070309020205020404" pitchFamily="49" charset="0"/>
                <a:cs typeface="Courier New" panose="02070309020205020404" pitchFamily="49" charset="0"/>
              </a:rPr>
              <a:t> apt-get install virtualbox-guest-x11</a:t>
            </a:r>
          </a:p>
          <a:p>
            <a:r>
              <a:rPr lang="zh-TW" altLang="en-US" dirty="0"/>
              <a:t>重開機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179B8-3DAD-4F3B-8911-27C4C54DF6F8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3138464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8687</TotalTime>
  <Words>873</Words>
  <Application>Microsoft Office PowerPoint</Application>
  <PresentationFormat>如螢幕大小 (4:3)</PresentationFormat>
  <Paragraphs>122</Paragraphs>
  <Slides>21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Arial</vt:lpstr>
      <vt:lpstr>Calibri</vt:lpstr>
      <vt:lpstr>Courier New</vt:lpstr>
      <vt:lpstr>Times New Roman</vt:lpstr>
      <vt:lpstr>Wingdings</vt:lpstr>
      <vt:lpstr>Wingdings 3</vt:lpstr>
      <vt:lpstr>多面向</vt:lpstr>
      <vt:lpstr>Computer Architecture: Lab0: Ocelot for CUDA Programming &amp; Setup Virtual Machine in PC</vt:lpstr>
      <vt:lpstr>Ocelot介紹</vt:lpstr>
      <vt:lpstr>虛擬機器安裝&amp;操作: Step 1 前置作業</vt:lpstr>
      <vt:lpstr>虛擬機器安裝&amp;操作: Step 2 設定虛擬機器 (匯入1/2)</vt:lpstr>
      <vt:lpstr>虛擬機器安裝&amp;操作: Step 2 設定虛擬機器 (匯入1/2)</vt:lpstr>
      <vt:lpstr>虛擬機器安裝&amp;操作: Step 2 設定虛擬機器 (匯入2/2)</vt:lpstr>
      <vt:lpstr>虛擬機器安裝&amp;操作: Step 2 設定虛擬機器 (其他)</vt:lpstr>
      <vt:lpstr>虛擬機器安裝&amp;操作: Step 3 開機</vt:lpstr>
      <vt:lpstr>虛擬機器安裝&amp;操作: Ubuntu 登入</vt:lpstr>
      <vt:lpstr>虛擬機器安裝&amp;操作: 桌面環境操作</vt:lpstr>
      <vt:lpstr>Ocelot/CUDA Programming 環境操作: 以example1為例 (試執行程式碼)</vt:lpstr>
      <vt:lpstr>Ocelot/CUDA Programming 環境操作: 以example1為例 (編譯&amp;執行)(1/2)</vt:lpstr>
      <vt:lpstr>Ocelot/CUDA Programming 環境操作: 以example1為例 (編譯&amp;執行)(2/2)</vt:lpstr>
      <vt:lpstr>附錄：如何存取虛擬機器中的檔案至你的電腦中</vt:lpstr>
      <vt:lpstr>請將虛擬機器關機，並重新設定網路選項</vt:lpstr>
      <vt:lpstr>請先查詢虛擬機器的IP位址</vt:lpstr>
      <vt:lpstr>在自己電腦上打開Filezilla</vt:lpstr>
      <vt:lpstr>附錄：無法啟動虛擬機器</vt:lpstr>
      <vt:lpstr>Q:無法啟動虛擬機器 (原因：CPU未開啟或未支援VM加速功能)</vt:lpstr>
      <vt:lpstr>附錄：其他</vt:lpstr>
      <vt:lpstr>VirualBox Guest Additions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chenyen</dc:creator>
  <cp:lastModifiedBy>雅淇 莊</cp:lastModifiedBy>
  <cp:revision>906</cp:revision>
  <dcterms:created xsi:type="dcterms:W3CDTF">2014-05-29T14:08:15Z</dcterms:created>
  <dcterms:modified xsi:type="dcterms:W3CDTF">2025-05-22T06:50:59Z</dcterms:modified>
</cp:coreProperties>
</file>