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5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6" r:id="rId6"/>
    <p:sldId id="265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ieh_2001 QQ" initials="cQ" lastIdx="0" clrIdx="0">
    <p:extLst>
      <p:ext uri="{19B8F6BF-5375-455C-9EA6-DF929625EA0E}">
        <p15:presenceInfo xmlns:p15="http://schemas.microsoft.com/office/powerpoint/2012/main" userId="39dc26d5891d17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289" autoAdjust="0"/>
  </p:normalViewPr>
  <p:slideViewPr>
    <p:cSldViewPr snapToGrid="0">
      <p:cViewPr varScale="1">
        <p:scale>
          <a:sx n="103" d="100"/>
          <a:sy n="103" d="100"/>
        </p:scale>
        <p:origin x="18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3CCB0-5AE7-46CF-BA0E-B14E9A3B987A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0194C-D702-49D1-8982-78C1CE1F90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18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A0194C-D702-49D1-8982-78C1CE1F901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978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1C49-94EE-482B-ADA4-245EC8E76ADC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5502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C78B-84C9-4A3B-8D83-57492BAE61AD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439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B15E-65FE-4964-BB48-4B84F5C21344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9288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FF556-ABB1-4232-AA8C-4B969F948ADE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980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95F7-93D1-4AEA-BB1A-4904C89D10CF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36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974ED-6C0D-4354-827F-90F3D8685389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091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EB3C-89AA-4F7C-94BD-AE3D6373DFBC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3389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5034-5FC7-4247-96A9-E3908F923F9D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386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1680-BA2A-4011-8DFD-13DF68C6560A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4038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3BCD3-0308-4DF1-BC7F-3795E51CDC99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29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2678-5877-426B-A86D-CA8A54D73F89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5136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5F43C-DED4-4906-B5A0-E6845FF91CF4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769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176DA-F3C5-435C-9AD2-58948316C45E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6915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6535-4175-4AF4-9384-5F6C5F504CFD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569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E932-58FB-4D24-9E3A-6E1C8A3CA005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107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DEEF-39AD-4E55-A1EC-F4D9E41B49AE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44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68D44-E42A-40E2-8CD0-301B687EF843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728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6576491" cy="1646302"/>
          </a:xfrm>
        </p:spPr>
        <p:txBody>
          <a:bodyPr/>
          <a:lstStyle/>
          <a:p>
            <a:r>
              <a:rPr lang="en-US" altLang="zh-TW" dirty="0"/>
              <a:t>Computer Architecture:</a:t>
            </a:r>
            <a:br>
              <a:rPr lang="en-US" altLang="zh-TW"/>
            </a:br>
            <a:r>
              <a:rPr lang="en-US" altLang="zh-TW" sz="3200"/>
              <a:t>HW1</a:t>
            </a:r>
            <a:r>
              <a:rPr lang="en-US" altLang="zh-TW" sz="3200" dirty="0"/>
              <a:t>: 1D Data Parallelism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Computer Architecture 2025 (Prof. </a:t>
            </a:r>
            <a:r>
              <a:rPr lang="en-US" altLang="zh-TW" dirty="0" err="1"/>
              <a:t>Chih</a:t>
            </a:r>
            <a:r>
              <a:rPr lang="en-US" altLang="zh-TW" dirty="0"/>
              <a:t>-Wei Liu) </a:t>
            </a:r>
          </a:p>
          <a:p>
            <a:r>
              <a:rPr lang="en-US" altLang="zh-TW" dirty="0"/>
              <a:t>CUDA Tutorial HW1</a:t>
            </a:r>
          </a:p>
        </p:txBody>
      </p:sp>
    </p:spTree>
    <p:extLst>
      <p:ext uri="{BB962C8B-B14F-4D97-AF65-F5344CB8AC3E}">
        <p14:creationId xmlns:p14="http://schemas.microsoft.com/office/powerpoint/2010/main" val="359030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回顧</a:t>
            </a:r>
            <a:r>
              <a:rPr lang="en-US" altLang="zh-TW" dirty="0"/>
              <a:t>CUDA</a:t>
            </a:r>
            <a:r>
              <a:rPr lang="zh-TW" altLang="en-US" dirty="0"/>
              <a:t>的平行運算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9" y="2160590"/>
            <a:ext cx="6853882" cy="3880773"/>
          </a:xfrm>
        </p:spPr>
        <p:txBody>
          <a:bodyPr>
            <a:normAutofit lnSpcReduction="10000"/>
          </a:bodyPr>
          <a:lstStyle/>
          <a:p>
            <a:r>
              <a:rPr lang="zh-TW" altLang="en-US" sz="2400" dirty="0"/>
              <a:t>平行程式可被指定的</a:t>
            </a:r>
            <a:r>
              <a:rPr lang="en-US" altLang="zh-TW" sz="2400" dirty="0"/>
              <a:t>block</a:t>
            </a:r>
            <a:r>
              <a:rPr lang="zh-TW" altLang="en-US" sz="2400" dirty="0"/>
              <a:t>與</a:t>
            </a:r>
            <a:r>
              <a:rPr lang="en-US" altLang="zh-TW" sz="2400" dirty="0"/>
              <a:t>thread</a:t>
            </a:r>
            <a:r>
              <a:rPr lang="zh-TW" altLang="en-US" sz="2400" dirty="0"/>
              <a:t>數量切割成若干部分</a:t>
            </a:r>
            <a:endParaRPr lang="en-US" altLang="zh-TW" sz="2400" dirty="0"/>
          </a:p>
          <a:p>
            <a:pPr lvl="1"/>
            <a:r>
              <a:rPr lang="en-US" altLang="zh-TW" sz="2000" dirty="0" err="1"/>
              <a:t>Cuda_Kernel</a:t>
            </a:r>
            <a:r>
              <a:rPr lang="en-US" altLang="zh-TW" sz="2000" dirty="0"/>
              <a:t> &lt;&lt;&lt;</a:t>
            </a:r>
            <a:r>
              <a:rPr lang="en-US" altLang="zh-TW" sz="2000" dirty="0" err="1"/>
              <a:t>nBlk,nTid</a:t>
            </a:r>
            <a:r>
              <a:rPr lang="en-US" altLang="zh-TW" sz="2000" dirty="0"/>
              <a:t>&gt;&gt;&gt;(..)</a:t>
            </a:r>
          </a:p>
          <a:p>
            <a:pPr lvl="1"/>
            <a:r>
              <a:rPr lang="zh-TW" altLang="en-US" sz="2000" dirty="0"/>
              <a:t>工作</a:t>
            </a:r>
            <a:r>
              <a:rPr lang="en-US" altLang="zh-TW" sz="2000" dirty="0"/>
              <a:t>(Tasks)</a:t>
            </a:r>
            <a:r>
              <a:rPr lang="zh-TW" altLang="en-US" sz="2000" dirty="0"/>
              <a:t>總數</a:t>
            </a:r>
            <a:r>
              <a:rPr lang="en-US" altLang="zh-TW" sz="2000" dirty="0"/>
              <a:t> = </a:t>
            </a:r>
            <a:r>
              <a:rPr lang="en-US" altLang="zh-TW" sz="2000" dirty="0" err="1"/>
              <a:t>nBlk</a:t>
            </a:r>
            <a:r>
              <a:rPr lang="en-US" altLang="zh-TW" sz="2000" dirty="0"/>
              <a:t>*</a:t>
            </a:r>
            <a:r>
              <a:rPr lang="en-US" altLang="zh-TW" sz="2000" dirty="0" err="1"/>
              <a:t>nTid</a:t>
            </a:r>
            <a:endParaRPr lang="en-US" altLang="zh-TW" sz="2000" dirty="0"/>
          </a:p>
          <a:p>
            <a:r>
              <a:rPr lang="zh-TW" altLang="en-US" sz="2400" dirty="0"/>
              <a:t>每個工作</a:t>
            </a:r>
            <a:r>
              <a:rPr lang="en-US" altLang="zh-TW" sz="2400" dirty="0"/>
              <a:t>(Task)</a:t>
            </a:r>
            <a:r>
              <a:rPr lang="zh-TW" altLang="en-US" sz="2400" dirty="0"/>
              <a:t>擁有不同的</a:t>
            </a:r>
            <a:r>
              <a:rPr lang="en-US" altLang="zh-TW" sz="2400" dirty="0"/>
              <a:t>block id</a:t>
            </a:r>
            <a:r>
              <a:rPr lang="zh-TW" altLang="en-US" sz="2400" dirty="0"/>
              <a:t>與</a:t>
            </a:r>
            <a:r>
              <a:rPr lang="en-US" altLang="zh-TW" sz="2400" dirty="0"/>
              <a:t>thread id</a:t>
            </a:r>
          </a:p>
          <a:p>
            <a:pPr lvl="1"/>
            <a:r>
              <a:rPr lang="zh-TW" altLang="en-US" sz="2200" dirty="0"/>
              <a:t>被處理的資料也依據這些</a:t>
            </a:r>
            <a:r>
              <a:rPr lang="en-US" altLang="zh-TW" sz="2200" dirty="0"/>
              <a:t>id</a:t>
            </a:r>
            <a:r>
              <a:rPr lang="zh-TW" altLang="en-US" sz="2200" dirty="0"/>
              <a:t>做適度切割</a:t>
            </a:r>
            <a:endParaRPr lang="en-US" altLang="zh-TW" sz="2200" dirty="0"/>
          </a:p>
          <a:p>
            <a:r>
              <a:rPr lang="zh-TW" altLang="en-US" sz="2400" dirty="0"/>
              <a:t>這些工作</a:t>
            </a:r>
            <a:r>
              <a:rPr lang="en-US" altLang="zh-TW" sz="2400" dirty="0"/>
              <a:t>(Task)</a:t>
            </a:r>
            <a:r>
              <a:rPr lang="zh-TW" altLang="en-US" sz="2400" dirty="0"/>
              <a:t>是動態排程地執行</a:t>
            </a:r>
            <a:endParaRPr lang="en-US" altLang="zh-TW" sz="2400" dirty="0"/>
          </a:p>
          <a:p>
            <a:pPr lvl="1"/>
            <a:r>
              <a:rPr lang="zh-TW" altLang="en-US" sz="2200" dirty="0"/>
              <a:t>在同一個</a:t>
            </a:r>
            <a:r>
              <a:rPr lang="en-US" altLang="zh-TW" sz="2200" dirty="0"/>
              <a:t>block</a:t>
            </a:r>
            <a:r>
              <a:rPr lang="zh-TW" altLang="en-US" sz="2200" dirty="0"/>
              <a:t>下的工作</a:t>
            </a:r>
            <a:r>
              <a:rPr lang="en-US" altLang="zh-TW" sz="2200" dirty="0"/>
              <a:t>(Tasks)</a:t>
            </a:r>
            <a:r>
              <a:rPr lang="zh-TW" altLang="en-US" sz="2200" dirty="0"/>
              <a:t>是會被安排在同一個</a:t>
            </a:r>
            <a:r>
              <a:rPr lang="en-US" altLang="zh-TW" sz="2200" dirty="0"/>
              <a:t>Streaming multiprocessor (SM)</a:t>
            </a:r>
            <a:r>
              <a:rPr lang="zh-TW" altLang="en-US" sz="2200" dirty="0"/>
              <a:t>被執行</a:t>
            </a:r>
            <a:endParaRPr lang="en-US" altLang="zh-TW" sz="2200" dirty="0"/>
          </a:p>
          <a:p>
            <a:endParaRPr lang="en-US" altLang="zh-TW" sz="2400" dirty="0"/>
          </a:p>
          <a:p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140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一維資料切割</a:t>
            </a:r>
            <a:r>
              <a:rPr lang="en-US" altLang="zh-TW" dirty="0"/>
              <a:t>-</a:t>
            </a:r>
            <a:r>
              <a:rPr lang="zh-TW" altLang="en-US" dirty="0"/>
              <a:t>方法一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5" name="Object 19"/>
          <p:cNvGraphicFramePr>
            <a:graphicFrameLocks noChangeAspect="1"/>
          </p:cNvGraphicFramePr>
          <p:nvPr/>
        </p:nvGraphicFramePr>
        <p:xfrm>
          <a:off x="325438" y="2420938"/>
          <a:ext cx="8566150" cy="163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8" name="Visio" r:id="rId3" imgW="11575923" imgH="2216099" progId="Visio.Drawing.11">
                  <p:embed/>
                </p:oleObj>
              </mc:Choice>
              <mc:Fallback>
                <p:oleObj name="Visio" r:id="rId3" imgW="11575923" imgH="2216099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8" y="2420938"/>
                        <a:ext cx="8566150" cy="163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84163" y="1493838"/>
            <a:ext cx="446405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dirty="0">
                <a:latin typeface="Arial" panose="020B0604020202020204" pitchFamily="34" charset="0"/>
              </a:rPr>
              <a:t>When processing 64 integer data: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dirty="0">
                <a:latin typeface="Arial" panose="020B0604020202020204" pitchFamily="34" charset="0"/>
              </a:rPr>
              <a:t>	</a:t>
            </a:r>
            <a:r>
              <a:rPr lang="en-US" altLang="zh-TW" dirty="0" err="1">
                <a:latin typeface="Arial" panose="020B0604020202020204" pitchFamily="34" charset="0"/>
              </a:rPr>
              <a:t>cuda_kernel</a:t>
            </a:r>
            <a:r>
              <a:rPr lang="en-US" altLang="zh-TW" dirty="0">
                <a:latin typeface="Arial" panose="020B0604020202020204" pitchFamily="34" charset="0"/>
              </a:rPr>
              <a:t>&lt;&lt;&lt;2, 2&gt;&gt;&gt;(…)</a:t>
            </a:r>
          </a:p>
        </p:txBody>
      </p:sp>
    </p:spTree>
    <p:extLst>
      <p:ext uri="{BB962C8B-B14F-4D97-AF65-F5344CB8AC3E}">
        <p14:creationId xmlns:p14="http://schemas.microsoft.com/office/powerpoint/2010/main" val="3962633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一維資料切割</a:t>
            </a:r>
            <a:r>
              <a:rPr lang="en-US" altLang="zh-TW" dirty="0"/>
              <a:t>-</a:t>
            </a:r>
            <a:r>
              <a:rPr lang="zh-TW" altLang="en-US" dirty="0"/>
              <a:t>方法二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4</a:t>
            </a:fld>
            <a:endParaRPr lang="zh-TW" altLang="en-US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25438" y="2205038"/>
          <a:ext cx="856615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6" name="Visio" r:id="rId3" imgW="11551545" imgH="2191746" progId="Visio.Drawing.11">
                  <p:embed/>
                </p:oleObj>
              </mc:Choice>
              <mc:Fallback>
                <p:oleObj name="Visio" r:id="rId3" imgW="11551545" imgH="2191746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8" y="2205038"/>
                        <a:ext cx="856615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7"/>
          <p:cNvGraphicFramePr>
            <a:graphicFrameLocks noChangeAspect="1"/>
          </p:cNvGraphicFramePr>
          <p:nvPr/>
        </p:nvGraphicFramePr>
        <p:xfrm>
          <a:off x="250825" y="4149725"/>
          <a:ext cx="4073525" cy="246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7" name="Visio" r:id="rId5" imgW="4531614" imgH="2742794" progId="Visio.Drawing.11">
                  <p:embed/>
                </p:oleObj>
              </mc:Choice>
              <mc:Fallback>
                <p:oleObj name="Visio" r:id="rId5" imgW="4531614" imgH="2742794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149725"/>
                        <a:ext cx="4073525" cy="246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8"/>
          <p:cNvGraphicFramePr>
            <a:graphicFrameLocks noChangeAspect="1"/>
          </p:cNvGraphicFramePr>
          <p:nvPr/>
        </p:nvGraphicFramePr>
        <p:xfrm>
          <a:off x="5048250" y="3733800"/>
          <a:ext cx="28956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8" name="Visio" r:id="rId7" imgW="4531614" imgH="2742794" progId="Visio.Drawing.11">
                  <p:embed/>
                </p:oleObj>
              </mc:Choice>
              <mc:Fallback>
                <p:oleObj name="Visio" r:id="rId7" imgW="4531614" imgH="2742794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0" y="3733800"/>
                        <a:ext cx="289560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68313" y="1412875"/>
            <a:ext cx="446405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TW" dirty="0">
                <a:latin typeface="Arial" panose="020B0604020202020204" pitchFamily="34" charset="0"/>
              </a:rPr>
              <a:t>When processing 64 integer data: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dirty="0">
                <a:latin typeface="Arial" panose="020B0604020202020204" pitchFamily="34" charset="0"/>
              </a:rPr>
              <a:t>	</a:t>
            </a:r>
            <a:r>
              <a:rPr lang="en-US" altLang="zh-TW" dirty="0" err="1">
                <a:latin typeface="Arial" panose="020B0604020202020204" pitchFamily="34" charset="0"/>
              </a:rPr>
              <a:t>cuda_kernel</a:t>
            </a:r>
            <a:r>
              <a:rPr lang="en-US" altLang="zh-TW" dirty="0">
                <a:latin typeface="Arial" panose="020B0604020202020204" pitchFamily="34" charset="0"/>
              </a:rPr>
              <a:t>&lt;&lt;&lt;1, 4&gt;&gt;&gt;(…)</a:t>
            </a:r>
          </a:p>
        </p:txBody>
      </p:sp>
    </p:spTree>
    <p:extLst>
      <p:ext uri="{BB962C8B-B14F-4D97-AF65-F5344CB8AC3E}">
        <p14:creationId xmlns:p14="http://schemas.microsoft.com/office/powerpoint/2010/main" val="3098287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 2</a:t>
            </a:r>
            <a:br>
              <a:rPr lang="en-US" altLang="zh-TW" dirty="0"/>
            </a:br>
            <a:r>
              <a:rPr lang="en-US" altLang="zh-TW" dirty="0"/>
              <a:t>cuda_wrapper.cu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84" y="1930400"/>
            <a:ext cx="3687951" cy="275104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65760" y="3587931"/>
            <a:ext cx="2778034" cy="9840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65759" y="2986452"/>
            <a:ext cx="3533175" cy="5405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3014418" y="4721219"/>
            <a:ext cx="1086065" cy="120032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方法一的一維資料切割</a:t>
            </a:r>
          </a:p>
        </p:txBody>
      </p:sp>
      <p:sp>
        <p:nvSpPr>
          <p:cNvPr id="11" name="向上箭號 10"/>
          <p:cNvSpPr/>
          <p:nvPr/>
        </p:nvSpPr>
        <p:spPr>
          <a:xfrm>
            <a:off x="3396343" y="3587931"/>
            <a:ext cx="322217" cy="104502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60681" y="5176737"/>
            <a:ext cx="2166090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紀錄</a:t>
            </a:r>
            <a:r>
              <a:rPr lang="en-US" altLang="zh-TW" dirty="0">
                <a:solidFill>
                  <a:schemeClr val="tx1"/>
                </a:solidFill>
              </a:rPr>
              <a:t>task</a:t>
            </a:r>
            <a:r>
              <a:rPr lang="zh-TW" altLang="en-US" dirty="0">
                <a:solidFill>
                  <a:schemeClr val="tx1"/>
                </a:solidFill>
              </a:rPr>
              <a:t>執行的情況</a:t>
            </a:r>
          </a:p>
        </p:txBody>
      </p:sp>
      <p:sp>
        <p:nvSpPr>
          <p:cNvPr id="13" name="向上箭號 12"/>
          <p:cNvSpPr/>
          <p:nvPr/>
        </p:nvSpPr>
        <p:spPr>
          <a:xfrm>
            <a:off x="1266984" y="4670438"/>
            <a:ext cx="759655" cy="39467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189" y="1907259"/>
            <a:ext cx="3784978" cy="2725701"/>
          </a:xfrm>
          <a:prstGeom prst="rect">
            <a:avLst/>
          </a:prstGeom>
        </p:spPr>
      </p:pic>
      <p:sp>
        <p:nvSpPr>
          <p:cNvPr id="18" name="投影片編號版面配置區 3"/>
          <p:cNvSpPr txBox="1">
            <a:spLocks/>
          </p:cNvSpPr>
          <p:nvPr/>
        </p:nvSpPr>
        <p:spPr>
          <a:xfrm>
            <a:off x="11068814" y="5921348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D2179B8-3DAD-4F3B-8911-27C4C54DF6F8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4989898" y="3467916"/>
            <a:ext cx="2778034" cy="9840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4989897" y="2866437"/>
            <a:ext cx="3533175" cy="54051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7638556" y="4601204"/>
            <a:ext cx="1086065" cy="120032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方法二的一維資料切割</a:t>
            </a:r>
          </a:p>
        </p:txBody>
      </p:sp>
      <p:sp>
        <p:nvSpPr>
          <p:cNvPr id="22" name="向上箭號 21"/>
          <p:cNvSpPr/>
          <p:nvPr/>
        </p:nvSpPr>
        <p:spPr>
          <a:xfrm>
            <a:off x="8020481" y="3467916"/>
            <a:ext cx="322217" cy="104502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5184819" y="5056722"/>
            <a:ext cx="2166090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紀錄</a:t>
            </a:r>
            <a:r>
              <a:rPr lang="en-US" altLang="zh-TW" dirty="0">
                <a:solidFill>
                  <a:schemeClr val="tx1"/>
                </a:solidFill>
              </a:rPr>
              <a:t>task</a:t>
            </a:r>
            <a:r>
              <a:rPr lang="zh-TW" altLang="en-US" dirty="0">
                <a:solidFill>
                  <a:schemeClr val="tx1"/>
                </a:solidFill>
              </a:rPr>
              <a:t>執行的情況</a:t>
            </a:r>
          </a:p>
        </p:txBody>
      </p:sp>
      <p:sp>
        <p:nvSpPr>
          <p:cNvPr id="24" name="向上箭號 23"/>
          <p:cNvSpPr/>
          <p:nvPr/>
        </p:nvSpPr>
        <p:spPr>
          <a:xfrm>
            <a:off x="5891122" y="4550423"/>
            <a:ext cx="759655" cy="39467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628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HW1:</a:t>
            </a:r>
            <a:r>
              <a:rPr lang="zh-TW" altLang="en-US" dirty="0"/>
              <a:t>一維亂數序列產生器</a:t>
            </a:r>
            <a:br>
              <a:rPr lang="en-US" altLang="zh-TW" dirty="0"/>
            </a:br>
            <a:r>
              <a:rPr lang="zh-TW" altLang="en-US" dirty="0"/>
              <a:t>程式說明</a:t>
            </a:r>
            <a:r>
              <a:rPr lang="en-US" altLang="zh-TW" dirty="0"/>
              <a:t>&amp;</a:t>
            </a:r>
            <a:r>
              <a:rPr lang="zh-TW" altLang="en-US" dirty="0"/>
              <a:t>作業規定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程式說明</a:t>
            </a:r>
            <a:endParaRPr lang="en-US" altLang="zh-TW" dirty="0"/>
          </a:p>
          <a:p>
            <a:pPr lvl="1"/>
            <a:r>
              <a:rPr lang="zh-TW" altLang="en-US" dirty="0"/>
              <a:t>每個亂數序列，由</a:t>
            </a:r>
            <a:r>
              <a:rPr lang="en-US" altLang="zh-TW" dirty="0"/>
              <a:t>rand()</a:t>
            </a:r>
            <a:r>
              <a:rPr lang="zh-TW" altLang="en-US" dirty="0"/>
              <a:t>函式產生原始亂數</a:t>
            </a:r>
            <a:r>
              <a:rPr lang="en-US" altLang="zh-TW" dirty="0"/>
              <a:t>(random seeds)</a:t>
            </a:r>
            <a:r>
              <a:rPr lang="zh-TW" altLang="en-US" dirty="0"/>
              <a:t>，再將每個亂數自乘</a:t>
            </a:r>
            <a:r>
              <a:rPr lang="en-US" altLang="zh-TW" i="1" dirty="0">
                <a:solidFill>
                  <a:srgbClr val="00B0F0"/>
                </a:solidFill>
              </a:rPr>
              <a:t>LOOP</a:t>
            </a:r>
            <a:r>
              <a:rPr lang="zh-TW" altLang="en-US" dirty="0"/>
              <a:t>次</a:t>
            </a:r>
            <a:r>
              <a:rPr lang="en-US" altLang="zh-TW" dirty="0"/>
              <a:t>(</a:t>
            </a:r>
            <a:r>
              <a:rPr lang="zh-TW" altLang="en-US" dirty="0"/>
              <a:t>在</a:t>
            </a:r>
            <a:r>
              <a:rPr lang="en-US" altLang="zh-TW" dirty="0" err="1"/>
              <a:t>parameter.h</a:t>
            </a:r>
            <a:r>
              <a:rPr lang="zh-TW" altLang="en-US" dirty="0"/>
              <a:t>定義</a:t>
            </a:r>
            <a:r>
              <a:rPr lang="en-US" altLang="zh-TW" dirty="0"/>
              <a:t>)</a:t>
            </a:r>
            <a:r>
              <a:rPr lang="zh-TW" altLang="en-US" dirty="0"/>
              <a:t>得到結果</a:t>
            </a:r>
            <a:br>
              <a:rPr lang="en-US" altLang="zh-TW" dirty="0"/>
            </a:br>
            <a:r>
              <a:rPr lang="en-US" altLang="zh-TW" dirty="0"/>
              <a:t>(CPU</a:t>
            </a:r>
            <a:r>
              <a:rPr lang="zh-TW" altLang="en-US" dirty="0"/>
              <a:t> </a:t>
            </a:r>
            <a:r>
              <a:rPr lang="en-US" altLang="zh-TW" dirty="0"/>
              <a:t>side</a:t>
            </a:r>
            <a:r>
              <a:rPr lang="zh-TW" altLang="en-US" dirty="0"/>
              <a:t>程式碼請參考</a:t>
            </a:r>
            <a:r>
              <a:rPr lang="en-US" altLang="zh-TW" dirty="0"/>
              <a:t>function_1(…))</a:t>
            </a:r>
          </a:p>
          <a:p>
            <a:pPr lvl="1"/>
            <a:r>
              <a:rPr lang="zh-TW" altLang="en-US" dirty="0"/>
              <a:t>相關參數請不要更動</a:t>
            </a:r>
            <a:r>
              <a:rPr lang="en-US" altLang="zh-TW" dirty="0"/>
              <a:t>(</a:t>
            </a:r>
            <a:r>
              <a:rPr lang="zh-TW" altLang="en-US" dirty="0"/>
              <a:t>像是</a:t>
            </a:r>
            <a:r>
              <a:rPr lang="en-US" altLang="zh-TW" dirty="0"/>
              <a:t>block size</a:t>
            </a:r>
            <a:r>
              <a:rPr lang="zh-TW" altLang="en-US" dirty="0"/>
              <a:t>、</a:t>
            </a:r>
            <a:r>
              <a:rPr lang="en-US" altLang="zh-TW" dirty="0"/>
              <a:t>thread numbers</a:t>
            </a:r>
            <a:r>
              <a:rPr lang="zh-TW" altLang="en-US" dirty="0"/>
              <a:t>、常數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作業規定</a:t>
            </a:r>
            <a:endParaRPr lang="en-US" altLang="zh-TW" dirty="0"/>
          </a:p>
          <a:p>
            <a:pPr lvl="1"/>
            <a:r>
              <a:rPr lang="zh-TW" altLang="en-US" dirty="0"/>
              <a:t>請補上</a:t>
            </a:r>
            <a:r>
              <a:rPr lang="zh-TW" altLang="en-US" sz="2000" b="1" dirty="0">
                <a:solidFill>
                  <a:srgbClr val="00B0F0"/>
                </a:solidFill>
              </a:rPr>
              <a:t>空缺的程式碼</a:t>
            </a:r>
            <a:r>
              <a:rPr lang="en-US" altLang="zh-TW" dirty="0"/>
              <a:t>(</a:t>
            </a:r>
            <a:r>
              <a:rPr lang="zh-TW" altLang="en-US" dirty="0"/>
              <a:t>留有註解暗示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請做出</a:t>
            </a:r>
            <a:r>
              <a:rPr lang="zh-TW" altLang="en-US" sz="2000" b="1" dirty="0">
                <a:solidFill>
                  <a:srgbClr val="00B0F0"/>
                </a:solidFill>
              </a:rPr>
              <a:t>方法一</a:t>
            </a:r>
            <a:r>
              <a:rPr lang="zh-TW" altLang="en-US" dirty="0"/>
              <a:t>與</a:t>
            </a:r>
            <a:r>
              <a:rPr lang="zh-TW" altLang="en-US" sz="2000" b="1" dirty="0">
                <a:solidFill>
                  <a:srgbClr val="00B0F0"/>
                </a:solidFill>
              </a:rPr>
              <a:t>方法二</a:t>
            </a:r>
            <a:r>
              <a:rPr lang="zh-TW" altLang="en-US" dirty="0"/>
              <a:t>的資料切割方式</a:t>
            </a:r>
            <a:endParaRPr lang="en-US" altLang="zh-TW" dirty="0"/>
          </a:p>
          <a:p>
            <a:pPr lvl="1"/>
            <a:r>
              <a:rPr lang="zh-TW" altLang="en-US" b="1" dirty="0">
                <a:solidFill>
                  <a:srgbClr val="00B0F0"/>
                </a:solidFill>
              </a:rPr>
              <a:t>請將</a:t>
            </a:r>
            <a:r>
              <a:rPr lang="en-US" altLang="zh-TW" b="1" dirty="0">
                <a:solidFill>
                  <a:srgbClr val="00B0F0"/>
                </a:solidFill>
              </a:rPr>
              <a:t>kernel</a:t>
            </a:r>
            <a:r>
              <a:rPr lang="zh-TW" altLang="en-US" b="1" dirty="0">
                <a:solidFill>
                  <a:srgbClr val="00B0F0"/>
                </a:solidFill>
              </a:rPr>
              <a:t>執行的</a:t>
            </a:r>
            <a:r>
              <a:rPr lang="en-US" altLang="zh-TW" b="1" dirty="0" err="1">
                <a:solidFill>
                  <a:srgbClr val="00B0F0"/>
                </a:solidFill>
              </a:rPr>
              <a:t>blockId</a:t>
            </a:r>
            <a:r>
              <a:rPr lang="zh-TW" altLang="en-US" b="1" dirty="0">
                <a:solidFill>
                  <a:srgbClr val="00B0F0"/>
                </a:solidFill>
              </a:rPr>
              <a:t>與</a:t>
            </a:r>
            <a:r>
              <a:rPr lang="en-US" altLang="zh-TW" b="1" dirty="0" err="1">
                <a:solidFill>
                  <a:srgbClr val="00B0F0"/>
                </a:solidFill>
              </a:rPr>
              <a:t>threadId</a:t>
            </a:r>
            <a:r>
              <a:rPr lang="zh-TW" altLang="en-US" b="1" dirty="0">
                <a:solidFill>
                  <a:srgbClr val="00B0F0"/>
                </a:solidFill>
              </a:rPr>
              <a:t>使用</a:t>
            </a:r>
            <a:r>
              <a:rPr lang="en-US" altLang="zh-TW" b="1" dirty="0">
                <a:solidFill>
                  <a:srgbClr val="00B0F0"/>
                </a:solidFill>
              </a:rPr>
              <a:t>example2</a:t>
            </a:r>
            <a:r>
              <a:rPr lang="zh-TW" altLang="en-US" b="1" dirty="0">
                <a:solidFill>
                  <a:srgbClr val="00B0F0"/>
                </a:solidFill>
              </a:rPr>
              <a:t>的方式，儲存在</a:t>
            </a:r>
            <a:r>
              <a:rPr lang="en-US" altLang="zh-TW" b="1" dirty="0" err="1">
                <a:solidFill>
                  <a:srgbClr val="00B0F0"/>
                </a:solidFill>
              </a:rPr>
              <a:t>IndexSave</a:t>
            </a:r>
            <a:r>
              <a:rPr lang="zh-TW" altLang="en-US" b="1" dirty="0">
                <a:solidFill>
                  <a:srgbClr val="00B0F0"/>
                </a:solidFill>
              </a:rPr>
              <a:t>的資料結構中 </a:t>
            </a:r>
            <a:r>
              <a:rPr lang="en-US" altLang="zh-TW" b="1" dirty="0">
                <a:solidFill>
                  <a:srgbClr val="00B0F0"/>
                </a:solidFill>
              </a:rPr>
              <a:t>(</a:t>
            </a:r>
            <a:r>
              <a:rPr lang="zh-TW" altLang="en-US" b="1" dirty="0">
                <a:solidFill>
                  <a:srgbClr val="00B0F0"/>
                </a:solidFill>
              </a:rPr>
              <a:t>請參考</a:t>
            </a:r>
            <a:r>
              <a:rPr lang="en-US" altLang="zh-TW" b="1" dirty="0">
                <a:solidFill>
                  <a:srgbClr val="00B0F0"/>
                </a:solidFill>
              </a:rPr>
              <a:t>example2</a:t>
            </a:r>
            <a:r>
              <a:rPr lang="zh-TW" altLang="en-US" b="1" dirty="0">
                <a:solidFill>
                  <a:srgbClr val="00B0F0"/>
                </a:solidFill>
              </a:rPr>
              <a:t>程式碼</a:t>
            </a:r>
            <a:r>
              <a:rPr lang="en-US" altLang="zh-TW" b="1" dirty="0">
                <a:solidFill>
                  <a:srgbClr val="00B0F0"/>
                </a:solidFill>
              </a:rPr>
              <a:t>)</a:t>
            </a:r>
            <a:r>
              <a:rPr lang="zh-TW" altLang="en-US" b="1" dirty="0">
                <a:solidFill>
                  <a:srgbClr val="00B0F0"/>
                </a:solidFill>
              </a:rPr>
              <a:t>，助教僅檢查</a:t>
            </a:r>
            <a:r>
              <a:rPr lang="en-US" altLang="zh-TW" b="1" dirty="0" err="1">
                <a:solidFill>
                  <a:srgbClr val="00B0F0"/>
                </a:solidFill>
              </a:rPr>
              <a:t>IndexSave</a:t>
            </a:r>
            <a:r>
              <a:rPr lang="zh-TW" altLang="en-US" b="1" dirty="0">
                <a:solidFill>
                  <a:srgbClr val="00B0F0"/>
                </a:solidFill>
              </a:rPr>
              <a:t>中此兩變量的值是否正確。</a:t>
            </a:r>
            <a:endParaRPr lang="en-US" altLang="zh-TW" dirty="0"/>
          </a:p>
          <a:p>
            <a:pPr lvl="1"/>
            <a:r>
              <a:rPr lang="zh-TW" altLang="en-US" b="1" dirty="0"/>
              <a:t>繳交檔案 </a:t>
            </a:r>
            <a:r>
              <a:rPr lang="en-US" altLang="zh-TW" b="1" dirty="0"/>
              <a:t>:</a:t>
            </a:r>
            <a:r>
              <a:rPr lang="zh-TW" altLang="en-US" b="1" dirty="0"/>
              <a:t> </a:t>
            </a:r>
            <a:r>
              <a:rPr lang="en-US" altLang="zh-TW" b="1" dirty="0"/>
              <a:t>main.cu,   </a:t>
            </a:r>
            <a:r>
              <a:rPr lang="zh-TW" altLang="en-US" b="1" dirty="0"/>
              <a:t>方法一的  </a:t>
            </a:r>
            <a:r>
              <a:rPr lang="en-US" altLang="zh-TW" b="1" dirty="0"/>
              <a:t>device1.cu,  </a:t>
            </a:r>
            <a:r>
              <a:rPr lang="zh-TW" altLang="en-US" b="1" dirty="0"/>
              <a:t>方法二的  </a:t>
            </a:r>
            <a:r>
              <a:rPr lang="en-US" altLang="zh-TW" b="1" dirty="0"/>
              <a:t>device2.cu</a:t>
            </a:r>
          </a:p>
          <a:p>
            <a:pPr lvl="1"/>
            <a:endParaRPr lang="en-US" altLang="zh-TW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6957701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8882</TotalTime>
  <Words>360</Words>
  <Application>Microsoft Office PowerPoint</Application>
  <PresentationFormat>如螢幕大小 (4:3)</PresentationFormat>
  <Paragraphs>38</Paragraphs>
  <Slides>6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Arial</vt:lpstr>
      <vt:lpstr>Calibri</vt:lpstr>
      <vt:lpstr>Times New Roman</vt:lpstr>
      <vt:lpstr>Wingdings 3</vt:lpstr>
      <vt:lpstr>多面向</vt:lpstr>
      <vt:lpstr>Visio</vt:lpstr>
      <vt:lpstr>Computer Architecture: HW1: 1D Data Parallelism</vt:lpstr>
      <vt:lpstr>回顧CUDA的平行運算</vt:lpstr>
      <vt:lpstr>一維資料切割-方法一</vt:lpstr>
      <vt:lpstr>一維資料切割-方法二</vt:lpstr>
      <vt:lpstr>Example 2 cuda_wrapper.cu</vt:lpstr>
      <vt:lpstr>HW1:一維亂數序列產生器 程式說明&amp;作業規定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chenyen</dc:creator>
  <cp:lastModifiedBy>雅淇 莊</cp:lastModifiedBy>
  <cp:revision>890</cp:revision>
  <dcterms:created xsi:type="dcterms:W3CDTF">2014-05-29T14:08:15Z</dcterms:created>
  <dcterms:modified xsi:type="dcterms:W3CDTF">2025-05-22T06:08:13Z</dcterms:modified>
</cp:coreProperties>
</file>