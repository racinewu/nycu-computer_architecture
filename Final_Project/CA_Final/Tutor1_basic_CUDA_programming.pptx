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1uzOxeyznYGPYhI2cjTJKJxDe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C5C7C3-6007-4B8A-8FE2-D62D468A4227}">
  <a:tblStyle styleId="{8BC5C7C3-6007-4B8A-8FE2-D62D468A4227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tcBdr/>
        <a:fill>
          <a:solidFill>
            <a:srgbClr val="DBE9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E9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1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8" name="Google Shape;28;p31"/>
            <p:cNvCxnSpPr/>
            <p:nvPr/>
          </p:nvCxnSpPr>
          <p:spPr>
            <a:xfrm rot="10800000" flipH="1">
              <a:off x="5130830" y="4175605"/>
              <a:ext cx="4022475" cy="268239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3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30;p31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1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4" name="Google Shape;34;p31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1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1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1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</p:sp>
      </p:grpSp>
      <p:sp>
        <p:nvSpPr>
          <p:cNvPr id="38" name="Google Shape;38;p31"/>
          <p:cNvSpPr txBox="1"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1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2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body" idx="2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body" idx="3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body" idx="4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body" idx="1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body" idx="2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 txBox="1"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>
            <a:spLocks noGrp="1"/>
          </p:cNvSpPr>
          <p:nvPr>
            <p:ph type="pic" idx="2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9"/>
          <p:cNvSpPr txBox="1">
            <a:spLocks noGrp="1"/>
          </p:cNvSpPr>
          <p:nvPr>
            <p:ph type="body" idx="1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說明文字">
  <p:cSld name="標題與說明文字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 (含標題)">
  <p:cSld name="引述 (含標題)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 txBox="1"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body" idx="1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imes New Roman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imes New Roman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imes New Roman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body" idx="2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1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41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41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片">
  <p:cSld name="名片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2"/>
          <p:cNvSpPr txBox="1"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2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名片">
  <p:cSld name="引述名片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1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imes New Roman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imes New Roman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imes New Roman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body" idx="2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3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43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是非題">
  <p:cSld name="是非題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4"/>
          <p:cNvSpPr txBox="1"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4"/>
          <p:cNvSpPr txBox="1">
            <a:spLocks noGrp="1"/>
          </p:cNvSpPr>
          <p:nvPr>
            <p:ph type="body" idx="1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imes New Roman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imes New Roman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imes New Roman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imes New Roman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44"/>
          <p:cNvSpPr txBox="1">
            <a:spLocks noGrp="1"/>
          </p:cNvSpPr>
          <p:nvPr>
            <p:ph type="body" idx="2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44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4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5"/>
          <p:cNvSpPr txBox="1">
            <a:spLocks noGrp="1"/>
          </p:cNvSpPr>
          <p:nvPr>
            <p:ph type="body" idx="1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45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5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6"/>
          <p:cNvSpPr txBox="1">
            <a:spLocks noGrp="1"/>
          </p:cNvSpPr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6"/>
          <p:cNvSpPr txBox="1">
            <a:spLocks noGrp="1"/>
          </p:cNvSpPr>
          <p:nvPr>
            <p:ph type="body" idx="1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46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6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11" name="Google Shape;11;p30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30"/>
            <p:cNvCxnSpPr/>
            <p:nvPr/>
          </p:nvCxnSpPr>
          <p:spPr>
            <a:xfrm rot="10800000" flipH="1">
              <a:off x="5130830" y="4175605"/>
              <a:ext cx="4022475" cy="268239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30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" name="Google Shape;14;p30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0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30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0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0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0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dt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ft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nvidia.com/cuda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kyL2rj_Se3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en-US"/>
              <a:t>Basic CUDA  Programming</a:t>
            </a:r>
            <a:endParaRPr/>
          </a:p>
        </p:txBody>
      </p:sp>
      <p:sp>
        <p:nvSpPr>
          <p:cNvPr id="149" name="Google Shape;149;p1"/>
          <p:cNvSpPr txBox="1"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Computer Architecture 202</a:t>
            </a:r>
            <a:r>
              <a:rPr lang="en-US" altLang="zh-TW" dirty="0"/>
              <a:t>5</a:t>
            </a:r>
            <a:r>
              <a:rPr lang="en-US" dirty="0"/>
              <a:t> (Prof. </a:t>
            </a:r>
            <a:r>
              <a:rPr lang="en-US" dirty="0" err="1"/>
              <a:t>Chih</a:t>
            </a:r>
            <a:r>
              <a:rPr lang="en-US" dirty="0"/>
              <a:t>-Wei Liu) </a:t>
            </a:r>
            <a:endParaRPr dirty="0"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CUDA Tutorial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From Graphics to General Purpose Processing – CPU vs GPU</a:t>
            </a:r>
            <a:endParaRPr/>
          </a:p>
        </p:txBody>
      </p:sp>
      <p:sp>
        <p:nvSpPr>
          <p:cNvPr id="156" name="Google Shape;156;p2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CPU：general purpose computation (SISD)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GPU：data-parallel computation (SIMD)</a:t>
            </a:r>
            <a:endParaRPr/>
          </a:p>
        </p:txBody>
      </p:sp>
      <p:sp>
        <p:nvSpPr>
          <p:cNvPr id="157" name="Google Shape;157;p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38" y="3068638"/>
            <a:ext cx="7648575" cy="28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1413" y="1844675"/>
            <a:ext cx="5230812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486650" cy="104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Heterogeneous computing: </a:t>
            </a:r>
            <a:br>
              <a:rPr lang="en-US"/>
            </a:br>
            <a:r>
              <a:rPr lang="en-US"/>
              <a:t>CPU+GPU Cooperation</a:t>
            </a:r>
            <a:endParaRPr/>
          </a:p>
        </p:txBody>
      </p:sp>
      <p:sp>
        <p:nvSpPr>
          <p:cNvPr id="166" name="Google Shape;166;p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373813" y="1387475"/>
            <a:ext cx="2133600" cy="762000"/>
          </a:xfrm>
          <a:prstGeom prst="wedgeRoundRectCallout">
            <a:avLst>
              <a:gd name="adj1" fmla="val -101264"/>
              <a:gd name="adj2" fmla="val 66667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CPU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(host)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658813" y="1997075"/>
            <a:ext cx="1981200" cy="1219200"/>
          </a:xfrm>
          <a:prstGeom prst="wedgeRoundRectCallout">
            <a:avLst>
              <a:gd name="adj1" fmla="val 43750"/>
              <a:gd name="adj2" fmla="val 73569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79463" y="2073275"/>
            <a:ext cx="1766887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GPU w/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local DRAM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(device)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658813" y="1361787"/>
            <a:ext cx="5715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Host-Device Architecture：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Heterogeneous computing:</a:t>
            </a:r>
            <a:br>
              <a:rPr lang="en-US"/>
            </a:br>
            <a:r>
              <a:rPr lang="en-US"/>
              <a:t>CUDA Code Execution</a:t>
            </a:r>
            <a:endParaRPr/>
          </a:p>
        </p:txBody>
      </p:sp>
      <p:graphicFrame>
        <p:nvGraphicFramePr>
          <p:cNvPr id="177" name="Google Shape;177;p4"/>
          <p:cNvGraphicFramePr/>
          <p:nvPr/>
        </p:nvGraphicFramePr>
        <p:xfrm>
          <a:off x="1095375" y="1944688"/>
          <a:ext cx="6148388" cy="41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4" imgW="6148388" imgH="4121150" progId="Visio.Drawing.11">
                  <p:embed/>
                </p:oleObj>
              </mc:Choice>
              <mc:Fallback>
                <p:oleObj r:id="rId4" imgW="6148388" imgH="4121150" progId="Visio.Drawing.11">
                  <p:embed/>
                  <p:pic>
                    <p:nvPicPr>
                      <p:cNvPr id="177" name="Google Shape;177;p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095375" y="1944688"/>
                        <a:ext cx="6148388" cy="412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" name="Google Shape;178;p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Heterogeneous computing:</a:t>
            </a:r>
            <a:br>
              <a:rPr lang="en-US"/>
            </a:br>
            <a:r>
              <a:rPr lang="en-US"/>
              <a:t>NIVIDA G80 series</a:t>
            </a:r>
            <a:endParaRPr/>
          </a:p>
        </p:txBody>
      </p: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7160" lvl="0" indent="-13716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</a:rPr>
              <a:t>Streaming Multiprocessor (SM</a:t>
            </a:r>
            <a:r>
              <a:rPr lang="en-US" sz="2000"/>
              <a:t>)</a:t>
            </a:r>
            <a:endParaRPr/>
          </a:p>
          <a:p>
            <a:pPr marL="742950" lvl="1" indent="-13715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Streaming Processor (SP)  </a:t>
            </a:r>
            <a:r>
              <a:rPr lang="en-US" sz="1800" b="1">
                <a:solidFill>
                  <a:srgbClr val="262626"/>
                </a:solidFill>
              </a:rPr>
              <a:t>/  </a:t>
            </a:r>
            <a:r>
              <a:rPr lang="en-US" sz="1800" b="1" u="sng">
                <a:solidFill>
                  <a:srgbClr val="00B0F0"/>
                </a:solidFill>
              </a:rPr>
              <a:t>CUDA core </a:t>
            </a:r>
            <a:endParaRPr/>
          </a:p>
          <a:p>
            <a:pPr marL="742950" lvl="1" indent="-13715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Shared memory</a:t>
            </a:r>
            <a:endParaRPr sz="1800">
              <a:solidFill>
                <a:srgbClr val="262626"/>
              </a:solidFill>
            </a:endParaRPr>
          </a:p>
          <a:p>
            <a:pPr marL="137160" lvl="0" indent="-13716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For NV GTX 1080, the number of SPs is 2560.</a:t>
            </a:r>
            <a:endParaRPr/>
          </a:p>
        </p:txBody>
      </p:sp>
      <p:sp>
        <p:nvSpPr>
          <p:cNvPr id="186" name="Google Shape;186;p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87" name="Google Shape;18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8514" y="3841185"/>
            <a:ext cx="4960382" cy="283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(1/7)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Define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 b="1" u="sng"/>
              <a:t>Programming model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 b="1" u="sng"/>
              <a:t>Memory model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Help developers map the applications or algorithms onto CUDA devices more easily and clearly.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It is important to follow CUDA’s programming model to obtain higher performance of program execution.</a:t>
            </a:r>
            <a:endParaRPr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(2/7)</a:t>
            </a:r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 b="1"/>
              <a:t>C/C++ for CUDA</a:t>
            </a:r>
            <a:endParaRPr/>
          </a:p>
          <a:p>
            <a:pPr marL="64008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Subset of C with extensions</a:t>
            </a:r>
            <a:endParaRPr/>
          </a:p>
          <a:p>
            <a:pPr marL="64008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C++ templates for GPU code</a:t>
            </a:r>
            <a:endParaRPr/>
          </a:p>
          <a:p>
            <a:pPr marL="64008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CUDA goals:</a:t>
            </a:r>
            <a:endParaRPr/>
          </a:p>
          <a:p>
            <a:pPr marL="1143000" lvl="2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Scale code to 100s of cores and 1000s of parallel threads.</a:t>
            </a:r>
            <a:endParaRPr/>
          </a:p>
          <a:p>
            <a:pPr marL="1143000" lvl="2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Facilitate heterogeneous computing: CPU + GPU</a:t>
            </a:r>
            <a:endParaRPr/>
          </a:p>
          <a:p>
            <a:pPr marL="342900" lvl="0" indent="-180340" algn="l" rtl="0">
              <a:spcBef>
                <a:spcPts val="1000"/>
              </a:spcBef>
              <a:spcAft>
                <a:spcPts val="0"/>
              </a:spcAft>
              <a:buSzPts val="2560"/>
              <a:buNone/>
            </a:pPr>
            <a:endParaRPr sz="3200"/>
          </a:p>
        </p:txBody>
      </p:sp>
      <p:sp>
        <p:nvSpPr>
          <p:cNvPr id="203" name="Google Shape;203;p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(3/7)</a:t>
            </a:r>
            <a:endParaRPr/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609598" y="2160590"/>
            <a:ext cx="6858002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 b="1"/>
              <a:t>CUDA Kernels and Threads</a:t>
            </a:r>
            <a:r>
              <a:rPr lang="en-US" sz="2400"/>
              <a:t>：</a:t>
            </a:r>
            <a:endParaRPr sz="240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Parallel portions of an application executed on the device are </a:t>
            </a:r>
            <a:r>
              <a:rPr lang="en-US" sz="2000" b="1">
                <a:solidFill>
                  <a:srgbClr val="FF0000"/>
                </a:solidFill>
              </a:rPr>
              <a:t>kernels</a:t>
            </a:r>
            <a:r>
              <a:rPr lang="en-US" sz="2000"/>
              <a:t>. And only one </a:t>
            </a:r>
            <a:r>
              <a:rPr lang="en-US" sz="2000" b="1">
                <a:solidFill>
                  <a:srgbClr val="FF0000"/>
                </a:solidFill>
              </a:rPr>
              <a:t>kernel</a:t>
            </a:r>
            <a:r>
              <a:rPr lang="en-US" sz="2000"/>
              <a:t> is executed at a time.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All the </a:t>
            </a:r>
            <a:r>
              <a:rPr lang="en-US" sz="2000" b="1">
                <a:solidFill>
                  <a:srgbClr val="0070C0"/>
                </a:solidFill>
              </a:rPr>
              <a:t>threads</a:t>
            </a:r>
            <a:r>
              <a:rPr lang="en-US" sz="2000"/>
              <a:t> execute the same kernel at a time.</a:t>
            </a:r>
            <a:endParaRPr/>
          </a:p>
        </p:txBody>
      </p:sp>
      <p:sp>
        <p:nvSpPr>
          <p:cNvPr id="211" name="Google Shape;211;p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(4/7)</a:t>
            </a:r>
            <a:endParaRPr sz="5400"/>
          </a:p>
        </p:txBody>
      </p:sp>
      <p:sp>
        <p:nvSpPr>
          <p:cNvPr id="218" name="Google Shape;218;p9"/>
          <p:cNvSpPr txBox="1">
            <a:spLocks noGrp="1"/>
          </p:cNvSpPr>
          <p:nvPr>
            <p:ph type="body" idx="1"/>
          </p:nvPr>
        </p:nvSpPr>
        <p:spPr>
          <a:xfrm>
            <a:off x="609598" y="1828800"/>
            <a:ext cx="7327901" cy="421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b="1"/>
              <a:t>Arrays of Parallel Threads</a:t>
            </a:r>
            <a:r>
              <a:rPr lang="en-US" sz="2000"/>
              <a:t>：</a:t>
            </a:r>
            <a:endParaRPr sz="2000"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A CUDA kernel is executed by an array of threads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 u="sng">
                <a:solidFill>
                  <a:srgbClr val="262626"/>
                </a:solidFill>
              </a:rPr>
              <a:t>Each thread has an ID that it uses to compute memory addresses and make control decisions</a:t>
            </a:r>
            <a:endParaRPr sz="1800" u="sng">
              <a:solidFill>
                <a:srgbClr val="262626"/>
              </a:solidFill>
            </a:endParaRPr>
          </a:p>
        </p:txBody>
      </p:sp>
      <p:sp>
        <p:nvSpPr>
          <p:cNvPr id="219" name="Google Shape;219;p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20" name="Google Shape;2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8992" y="3556000"/>
            <a:ext cx="4329112" cy="29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(5/7)</a:t>
            </a:r>
            <a:endParaRPr/>
          </a:p>
        </p:txBody>
      </p:sp>
      <p:sp>
        <p:nvSpPr>
          <p:cNvPr id="227" name="Google Shape;227;p10"/>
          <p:cNvSpPr txBox="1">
            <a:spLocks noGrp="1"/>
          </p:cNvSpPr>
          <p:nvPr>
            <p:ph type="body" idx="1"/>
          </p:nvPr>
        </p:nvSpPr>
        <p:spPr>
          <a:xfrm>
            <a:off x="609599" y="1828800"/>
            <a:ext cx="6347714" cy="421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b="1"/>
              <a:t>Thread Batching</a:t>
            </a:r>
            <a:r>
              <a:rPr lang="en-US" sz="2000"/>
              <a:t>：</a:t>
            </a:r>
            <a:endParaRPr sz="2000"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Kernel launches a </a:t>
            </a:r>
            <a:r>
              <a:rPr lang="en-US" sz="2000" b="1">
                <a:solidFill>
                  <a:srgbClr val="00B050"/>
                </a:solidFill>
              </a:rPr>
              <a:t>grid</a:t>
            </a:r>
            <a:r>
              <a:rPr lang="en-US" sz="2000"/>
              <a:t> of </a:t>
            </a:r>
            <a:r>
              <a:rPr lang="en-US" sz="2000" b="1">
                <a:solidFill>
                  <a:srgbClr val="0070C0"/>
                </a:solidFill>
              </a:rPr>
              <a:t>thread blocks</a:t>
            </a:r>
            <a:endParaRPr/>
          </a:p>
          <a:p>
            <a:pPr marL="182880" lvl="0" indent="-81279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2000" b="1">
              <a:solidFill>
                <a:srgbClr val="0070C0"/>
              </a:solidFill>
            </a:endParaRPr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Threads within a block cooperate via shared memory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Threads in different blocks cannot cooperate</a:t>
            </a:r>
            <a:endParaRPr sz="2000"/>
          </a:p>
        </p:txBody>
      </p:sp>
      <p:sp>
        <p:nvSpPr>
          <p:cNvPr id="228" name="Google Shape;228;p1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736" y="2988137"/>
            <a:ext cx="5881688" cy="1893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(6/7)</a:t>
            </a:r>
            <a:endParaRPr/>
          </a:p>
        </p:txBody>
      </p:sp>
      <p:sp>
        <p:nvSpPr>
          <p:cNvPr id="235" name="Google Shape;235;p11"/>
          <p:cNvSpPr txBox="1">
            <a:spLocks noGrp="1"/>
          </p:cNvSpPr>
          <p:nvPr>
            <p:ph type="body" idx="1"/>
          </p:nvPr>
        </p:nvSpPr>
        <p:spPr>
          <a:xfrm>
            <a:off x="831273" y="1828800"/>
            <a:ext cx="359626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b="1"/>
              <a:t>CUDA Programming Model：</a:t>
            </a:r>
            <a:endParaRPr b="1"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 kernel is executed by a grid of thread blocks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u="sng">
                <a:solidFill>
                  <a:srgbClr val="262626"/>
                </a:solidFill>
              </a:rPr>
              <a:t>Block can be 1D or 2D or 3D.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 thread block is a batch of threads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u="sng">
                <a:solidFill>
                  <a:srgbClr val="262626"/>
                </a:solidFill>
              </a:rPr>
              <a:t>Thread can be 1D or 2D or 3D.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Data can be shared through shared memory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Execution synchronization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But threads from different blocks can’t cooperate.</a:t>
            </a:r>
            <a:endParaRPr/>
          </a:p>
          <a:p>
            <a:pPr marL="182880" lvl="0" indent="-9144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36" name="Google Shape;236;p11"/>
          <p:cNvSpPr txBox="1">
            <a:spLocks noGrp="1"/>
          </p:cNvSpPr>
          <p:nvPr>
            <p:ph type="sldNum" idx="12"/>
          </p:nvPr>
        </p:nvSpPr>
        <p:spPr>
          <a:xfrm>
            <a:off x="6062291" y="6492875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7" name="Google Shape;23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0922" y="1496291"/>
            <a:ext cx="3635375" cy="480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Programming Model (7/7)</a:t>
            </a:r>
            <a:endParaRPr sz="5400"/>
          </a:p>
        </p:txBody>
      </p:sp>
      <p:sp>
        <p:nvSpPr>
          <p:cNvPr id="243" name="Google Shape;243;p12"/>
          <p:cNvSpPr txBox="1">
            <a:spLocks noGrp="1"/>
          </p:cNvSpPr>
          <p:nvPr>
            <p:ph type="body" idx="1"/>
          </p:nvPr>
        </p:nvSpPr>
        <p:spPr>
          <a:xfrm>
            <a:off x="609599" y="1762298"/>
            <a:ext cx="6347714" cy="497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 b="1"/>
              <a:t>Memory Model：</a:t>
            </a:r>
            <a:endParaRPr sz="2800" b="1"/>
          </a:p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 b="1"/>
              <a:t>Registers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Per thread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Data lifetime = thread lifetime</a:t>
            </a:r>
            <a:endParaRPr/>
          </a:p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 b="1"/>
              <a:t>Shared memory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Per thread block on-chip memory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Data lifetime = block lifetime</a:t>
            </a:r>
            <a:endParaRPr/>
          </a:p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 b="1"/>
              <a:t>Local memory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Per thread off-chip memory (physically in device DRAM)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Data lifetime = thread lifetime</a:t>
            </a:r>
            <a:endParaRPr/>
          </a:p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 b="1"/>
              <a:t>Global (device) memory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Accessible by all threads as well as host (CPU)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Data lifetime = from allocation to deallocation</a:t>
            </a:r>
            <a:endParaRPr sz="1800">
              <a:solidFill>
                <a:srgbClr val="262626"/>
              </a:solidFill>
            </a:endParaRPr>
          </a:p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 b="1"/>
              <a:t>Host (CPU) memory</a:t>
            </a:r>
            <a:endParaRPr/>
          </a:p>
          <a:p>
            <a:pPr marL="742950" lvl="1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262626"/>
                </a:solidFill>
              </a:rPr>
              <a:t>Not directly accessible by CUDA threads</a:t>
            </a:r>
            <a:endParaRPr sz="1800">
              <a:solidFill>
                <a:srgbClr val="262626"/>
              </a:solidFill>
            </a:endParaRPr>
          </a:p>
        </p:txBody>
      </p:sp>
      <p:sp>
        <p:nvSpPr>
          <p:cNvPr id="244" name="Google Shape;244;p1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Heterogeneous computing:</a:t>
            </a:r>
            <a:br>
              <a:rPr lang="en-US"/>
            </a:br>
            <a:r>
              <a:rPr lang="en-US"/>
              <a:t>NVIDIA CUDA Compiler (NVCC)</a:t>
            </a:r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body" idx="1"/>
          </p:nvPr>
        </p:nvSpPr>
        <p:spPr>
          <a:xfrm>
            <a:off x="609598" y="2160590"/>
            <a:ext cx="6743701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NVCC separates CPU and GPU source code into two parts.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For host codes, NVCC invokes typical C compiler like GCC, Intel C compiler, or MS C compiler.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All the device codes are compiled by NVCC.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FF0000"/>
                </a:solidFill>
              </a:rPr>
              <a:t>The extension of device source files should be “.cu”.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All executable with CUDA code requires：</a:t>
            </a:r>
            <a:endParaRPr sz="200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CUDA core library (cuda)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CUDA runtime library (cudart)</a:t>
            </a:r>
            <a:endParaRPr sz="1800"/>
          </a:p>
        </p:txBody>
      </p:sp>
      <p:sp>
        <p:nvSpPr>
          <p:cNvPr id="251" name="Google Shape;251;p1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>
            <a:spLocks noGrp="1"/>
          </p:cNvSpPr>
          <p:nvPr>
            <p:ph type="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/>
              <a:t>CUDA C/C++ Basic</a:t>
            </a:r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body" idx="1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GPU Memory Allocation/Release</a:t>
            </a:r>
            <a:endParaRPr/>
          </a:p>
        </p:txBody>
      </p:sp>
      <p:sp>
        <p:nvSpPr>
          <p:cNvPr id="264" name="Google Shape;264;p15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Memory allocation on GPU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cudaMalloc(void **pointer, size_t nbytes)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Preset value for specific memory area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cudaMemset(void *pointer, int value, size_t count)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Release memory allocation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cudaFree(void *pointer)</a:t>
            </a:r>
            <a:endParaRPr>
              <a:solidFill>
                <a:srgbClr val="26262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5" name="Google Shape;265;p1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1642168" y="4652300"/>
            <a:ext cx="4895850" cy="17541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n = 1024;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nbytes = 1024*sizeof(int);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*d_a =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cudaMalloc( (void**)&amp;d_a, nbytes 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cudaMemset( d_a, 0, nbytes);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cudaFree(d_a);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Data Copies</a:t>
            </a:r>
            <a:endParaRPr/>
          </a:p>
        </p:txBody>
      </p:sp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>
          <a:xfrm>
            <a:off x="931863" y="1820863"/>
            <a:ext cx="644525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cudaMemcpy(void *dst, void *src, size_t nbytes, enum cudaMemcpyKind direction);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 i="1">
                <a:solidFill>
                  <a:srgbClr val="262626"/>
                </a:solidFill>
              </a:rPr>
              <a:t>direction</a:t>
            </a:r>
            <a:r>
              <a:rPr lang="en-US" sz="2000">
                <a:solidFill>
                  <a:srgbClr val="262626"/>
                </a:solidFill>
              </a:rPr>
              <a:t> specifies locations (host or device) of </a:t>
            </a:r>
            <a:r>
              <a:rPr lang="en-US" sz="2000" i="1">
                <a:solidFill>
                  <a:srgbClr val="262626"/>
                </a:solidFill>
              </a:rPr>
              <a:t>src</a:t>
            </a:r>
            <a:r>
              <a:rPr lang="en-US" sz="2000">
                <a:solidFill>
                  <a:srgbClr val="262626"/>
                </a:solidFill>
              </a:rPr>
              <a:t> and </a:t>
            </a:r>
            <a:r>
              <a:rPr lang="en-US" sz="2000" i="1">
                <a:solidFill>
                  <a:srgbClr val="262626"/>
                </a:solidFill>
              </a:rPr>
              <a:t>dst</a:t>
            </a:r>
            <a:endParaRPr sz="2000" i="1">
              <a:solidFill>
                <a:srgbClr val="262626"/>
              </a:solidFill>
            </a:endParaRPr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</a:rPr>
              <a:t>Blocks CPU thread: returns after the copy is complete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</a:rPr>
              <a:t>Doesn’t start copying until previous CUDA calls complete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enum cudaMemcpyKind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cudaMemcpyHostToDevice</a:t>
            </a:r>
            <a:endParaRPr sz="2000">
              <a:solidFill>
                <a:srgbClr val="26262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cudaMemcpyDeviceToHost</a:t>
            </a:r>
            <a:endParaRPr sz="2000">
              <a:solidFill>
                <a:srgbClr val="26262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cudaMemcpyDeviceToDevice</a:t>
            </a:r>
            <a:endParaRPr sz="2000">
              <a:solidFill>
                <a:srgbClr val="26262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3" name="Google Shape;273;p1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Function Qualifiers</a:t>
            </a:r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50557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__global__ </a:t>
            </a:r>
            <a:r>
              <a:rPr lang="en-US" sz="2000"/>
              <a:t>: invoked from within host (CPU) code, 	                 also called ‘kernel’</a:t>
            </a:r>
            <a:endParaRPr/>
          </a:p>
          <a:p>
            <a:pPr marL="182880" lvl="0" indent="-81279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2000"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__device__ </a:t>
            </a:r>
            <a:r>
              <a:rPr lang="en-US" sz="2000"/>
              <a:t>: called from other GPU functions, 		                  cannot be called from host (CPU)  code</a:t>
            </a:r>
            <a:endParaRPr/>
          </a:p>
          <a:p>
            <a:pPr marL="182880" lvl="0" indent="-81279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2000"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__host__ </a:t>
            </a:r>
            <a:r>
              <a:rPr lang="en-US" sz="2000"/>
              <a:t>: can only be executed by CPU, called 	         	               from host</a:t>
            </a:r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Variable Qualifiers (GPU code)</a:t>
            </a:r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body" idx="1"/>
          </p:nvPr>
        </p:nvSpPr>
        <p:spPr>
          <a:xfrm>
            <a:off x="609599" y="1845426"/>
            <a:ext cx="6347714" cy="419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latin typeface="Comic Sans MS"/>
                <a:ea typeface="Comic Sans MS"/>
                <a:cs typeface="Comic Sans MS"/>
                <a:sym typeface="Comic Sans MS"/>
              </a:rPr>
              <a:t>__device__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Stored in device memory (large capacity, high latency, uncached)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Allocated with </a:t>
            </a:r>
            <a:r>
              <a:rPr lang="en-US" sz="14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cudaMalloc</a:t>
            </a:r>
            <a:r>
              <a:rPr lang="en-US" sz="1400">
                <a:solidFill>
                  <a:srgbClr val="262626"/>
                </a:solidFill>
              </a:rPr>
              <a:t> (</a:t>
            </a:r>
            <a:r>
              <a:rPr lang="en-US" sz="14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__device__ </a:t>
            </a:r>
            <a:r>
              <a:rPr lang="en-US" sz="1400">
                <a:solidFill>
                  <a:srgbClr val="262626"/>
                </a:solidFill>
              </a:rPr>
              <a:t>qualifier implied)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Accessible by all threads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Lifetime: application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latin typeface="Comic Sans MS"/>
                <a:ea typeface="Comic Sans MS"/>
                <a:cs typeface="Comic Sans MS"/>
                <a:sym typeface="Comic Sans MS"/>
              </a:rPr>
              <a:t>__shared__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Stored in on-chip shared memory (SRAM, low latency)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Allocated by execution configuration or at compile time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Accessible by all threads in the same thread block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sz="1400">
                <a:solidFill>
                  <a:srgbClr val="262626"/>
                </a:solidFill>
              </a:rPr>
              <a:t>Lifetime: duration of thread block</a:t>
            </a:r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CUDA Built-in Device Variables</a:t>
            </a:r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All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__global__ </a:t>
            </a:r>
            <a:r>
              <a:rPr lang="en-US"/>
              <a:t>and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__device__ </a:t>
            </a:r>
            <a:r>
              <a:rPr lang="en-US"/>
              <a:t>functions have access to these automatically defined variables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dim3 gridDim</a:t>
            </a:r>
            <a:r>
              <a:rPr lang="en-US"/>
              <a:t>;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Dimensions of the grid in blocks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dim3 blockIdx</a:t>
            </a:r>
            <a:r>
              <a:rPr lang="en-US"/>
              <a:t>;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Block index within the grid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dim3 blockDim</a:t>
            </a:r>
            <a:r>
              <a:rPr lang="en-US"/>
              <a:t>;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Dimensions of the block in threads</a:t>
            </a:r>
            <a:endParaRPr/>
          </a:p>
          <a:p>
            <a:pPr marL="182880" lvl="0" indent="-18288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dim3 threadIdx</a:t>
            </a:r>
            <a:r>
              <a:rPr lang="en-US"/>
              <a:t>;</a:t>
            </a:r>
            <a:endParaRPr/>
          </a:p>
          <a:p>
            <a:pPr marL="74295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solidFill>
                  <a:srgbClr val="262626"/>
                </a:solidFill>
              </a:rPr>
              <a:t>Thread index within the block</a:t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294" name="Google Shape;294;p1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Launching Kernels</a:t>
            </a:r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82879" algn="l" rtl="0">
              <a:spcBef>
                <a:spcPts val="0"/>
              </a:spcBef>
              <a:spcAft>
                <a:spcPts val="0"/>
              </a:spcAft>
              <a:buSzPts val="1760"/>
              <a:buChar char="►"/>
            </a:pPr>
            <a:r>
              <a:rPr lang="en-US" sz="2200">
                <a:solidFill>
                  <a:srgbClr val="262626"/>
                </a:solidFill>
                <a:latin typeface="Comic Sans MS"/>
                <a:ea typeface="Comic Sans MS"/>
                <a:cs typeface="Comic Sans MS"/>
                <a:sym typeface="Comic Sans MS"/>
              </a:rPr>
              <a:t>kernel&lt;&lt;&lt;dim3 grid, dim3 block&gt;&gt;&gt;(…);</a:t>
            </a:r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2117870" y="2946814"/>
            <a:ext cx="4206730" cy="230832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dim3 grid(16,16);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dim3 block(16,16);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kernel1&lt;&lt;&lt;grid, block&gt;&gt;&gt;(…);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kernel2&lt;&lt;&lt;32, 512&gt;&gt;&gt;(…);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Data Decomposition</a:t>
            </a:r>
            <a:endParaRPr/>
          </a:p>
        </p:txBody>
      </p:sp>
      <p:sp>
        <p:nvSpPr>
          <p:cNvPr id="308" name="Google Shape;308;p21"/>
          <p:cNvSpPr txBox="1"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Often want each thread in kernel to access a different element of an array.</a:t>
            </a:r>
            <a:endParaRPr/>
          </a:p>
        </p:txBody>
      </p:sp>
      <p:sp>
        <p:nvSpPr>
          <p:cNvPr id="309" name="Google Shape;309;p21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10" name="Google Shape;31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0313" y="2708275"/>
            <a:ext cx="628332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 txBox="1"/>
          <p:nvPr/>
        </p:nvSpPr>
        <p:spPr>
          <a:xfrm>
            <a:off x="684213" y="2924175"/>
            <a:ext cx="1463675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blockIdx.x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15938" y="3535363"/>
            <a:ext cx="19621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blockDim.x = 5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92125" y="4144963"/>
            <a:ext cx="165576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threadIdx.x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14" name="Google Shape;314;p21"/>
          <p:cNvCxnSpPr/>
          <p:nvPr/>
        </p:nvCxnSpPr>
        <p:spPr>
          <a:xfrm>
            <a:off x="1979613" y="3109913"/>
            <a:ext cx="1584325" cy="18415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5" name="Google Shape;315;p21"/>
          <p:cNvCxnSpPr/>
          <p:nvPr/>
        </p:nvCxnSpPr>
        <p:spPr>
          <a:xfrm rot="10800000" flipH="1">
            <a:off x="1979613" y="4221163"/>
            <a:ext cx="936625" cy="109537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" name="Google Shape;316;p21"/>
          <p:cNvSpPr txBox="1"/>
          <p:nvPr/>
        </p:nvSpPr>
        <p:spPr>
          <a:xfrm>
            <a:off x="2500313" y="4868863"/>
            <a:ext cx="62833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0  1  2  3  4          5   6  7  8  9         10 11 12 13 14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16891" y="5510049"/>
            <a:ext cx="6535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idx = blockIdx.x*blockDim.x + threadIdx.x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 rot="10800000" flipH="1">
            <a:off x="931817" y="5048250"/>
            <a:ext cx="1984421" cy="533944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(1) (1/4)</a:t>
            </a:r>
            <a:endParaRPr/>
          </a:p>
        </p:txBody>
      </p:sp>
      <p:sp>
        <p:nvSpPr>
          <p:cNvPr id="325" name="Google Shape;325;p22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446838" cy="10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Increment N-element vector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/>
              <a:t> by scalar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  <a:p>
            <a:pPr marL="58293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b="1"/>
              <a:t>Each thread only executes ONCE</a:t>
            </a:r>
            <a:endParaRPr b="1"/>
          </a:p>
        </p:txBody>
      </p:sp>
      <p:sp>
        <p:nvSpPr>
          <p:cNvPr id="326" name="Google Shape;326;p22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300038" y="2628960"/>
            <a:ext cx="3959225" cy="33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program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increment_cpu(int a[], int b, int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for(int idx=0;idx&lt;N;idx++)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a[idx]=a[idx]+b;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increment_cpu(a,b,N);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4257675" y="2628960"/>
            <a:ext cx="4860925" cy="35394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CUDA program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__global__ void increment_gpu(int a[], int b, int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idx = blockIdx.x*blockDim.x+threadIdx.x;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if(idx&lt;N)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a[idx]=a[idx]+b;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dim3 dimBlock(BlockSize);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dim3 dimGrid(ThreadNum);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increment_gpu&lt;&lt;&lt;dimGrid,dimBlock&gt;&gt;&gt;(d_a,b,N);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3264342" y="3567172"/>
            <a:ext cx="1038225" cy="28892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≥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426720" y="6488668"/>
            <a:ext cx="175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main_gpu_1.cu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(1) (2/4)</a:t>
            </a: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446838" cy="10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Increment N-element vector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/>
              <a:t> by scalar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  <a:p>
            <a:pPr marL="58293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b="1"/>
              <a:t>Each thread only executes ONCE</a:t>
            </a:r>
            <a:endParaRPr b="1"/>
          </a:p>
        </p:txBody>
      </p:sp>
      <p:sp>
        <p:nvSpPr>
          <p:cNvPr id="339" name="Google Shape;339;p23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≥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193" y="1825897"/>
            <a:ext cx="4512647" cy="234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5840" y="1825897"/>
            <a:ext cx="402336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3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028611" y="4014579"/>
            <a:ext cx="3749630" cy="365832"/>
          </a:xfrm>
          <a:prstGeom prst="rect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5028611" y="2283608"/>
            <a:ext cx="971595" cy="163501"/>
          </a:xfrm>
          <a:prstGeom prst="rect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6336757" y="2025540"/>
            <a:ext cx="232518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referred to device memory space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6069874" y="2283608"/>
            <a:ext cx="266883" cy="163501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1270544" y="4340497"/>
            <a:ext cx="28990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 an integer array on device’s memory</a:t>
            </a:r>
            <a:endParaRPr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the ‘a’ array’s value to ‘d_a’ (on the device)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23"/>
          <p:cNvSpPr/>
          <p:nvPr/>
        </p:nvSpPr>
        <p:spPr>
          <a:xfrm rot="-709148">
            <a:off x="3709940" y="4128509"/>
            <a:ext cx="1284828" cy="2140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3"/>
          <p:cNvSpPr/>
          <p:nvPr/>
        </p:nvSpPr>
        <p:spPr>
          <a:xfrm rot="-3020073">
            <a:off x="3810795" y="4825288"/>
            <a:ext cx="1548621" cy="2140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426720" y="6488668"/>
            <a:ext cx="175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main_gpu_1.cu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(1) (3/4)</a:t>
            </a:r>
            <a:endParaRPr/>
          </a:p>
        </p:txBody>
      </p:sp>
      <p:sp>
        <p:nvSpPr>
          <p:cNvPr id="357" name="Google Shape;357;p24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446838" cy="10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Increment N-element vector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/>
              <a:t> by scalar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  <a:p>
            <a:pPr marL="582930" lvl="1" indent="-182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b="1"/>
              <a:t>Each thread only executes ONCE</a:t>
            </a:r>
            <a:endParaRPr b="1"/>
          </a:p>
        </p:txBody>
      </p:sp>
      <p:sp>
        <p:nvSpPr>
          <p:cNvPr id="358" name="Google Shape;358;p24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≥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193" y="1825897"/>
            <a:ext cx="4512647" cy="234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5840" y="1825897"/>
            <a:ext cx="402336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4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5032670" y="4496022"/>
            <a:ext cx="3749630" cy="441738"/>
          </a:xfrm>
          <a:prstGeom prst="rect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802609" y="4340497"/>
            <a:ext cx="2899025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AutoNum type="arabicPeriod" startAt="3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Invoke CUDA kernel function</a:t>
            </a:r>
            <a:endParaRPr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AutoNum type="arabicPeriod" startAt="3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all the tasks are finished</a:t>
            </a:r>
            <a:endParaRPr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AutoNum type="arabicPeriod" startAt="3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the results from device.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4"/>
          <p:cNvSpPr/>
          <p:nvPr/>
        </p:nvSpPr>
        <p:spPr>
          <a:xfrm rot="-2177947">
            <a:off x="3722156" y="5650302"/>
            <a:ext cx="1284828" cy="2140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24"/>
          <p:cNvSpPr/>
          <p:nvPr/>
        </p:nvSpPr>
        <p:spPr>
          <a:xfrm rot="498948">
            <a:off x="3303028" y="4485362"/>
            <a:ext cx="1548621" cy="2140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5032670" y="4937760"/>
            <a:ext cx="3749630" cy="156754"/>
          </a:xfrm>
          <a:prstGeom prst="rect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5032670" y="5197328"/>
            <a:ext cx="3749630" cy="195839"/>
          </a:xfrm>
          <a:prstGeom prst="rect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4"/>
          <p:cNvSpPr/>
          <p:nvPr/>
        </p:nvSpPr>
        <p:spPr>
          <a:xfrm rot="-660611">
            <a:off x="3565542" y="5043479"/>
            <a:ext cx="1284828" cy="2140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426720" y="6488668"/>
            <a:ext cx="175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main_gpu_1.cu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(1) (4/4)</a:t>
            </a:r>
            <a:endParaRPr/>
          </a:p>
        </p:txBody>
      </p:sp>
      <p:graphicFrame>
        <p:nvGraphicFramePr>
          <p:cNvPr id="376" name="Google Shape;376;p25"/>
          <p:cNvGraphicFramePr/>
          <p:nvPr/>
        </p:nvGraphicFramePr>
        <p:xfrm>
          <a:off x="609599" y="2787606"/>
          <a:ext cx="7881250" cy="1331125"/>
        </p:xfrm>
        <a:graphic>
          <a:graphicData uri="http://schemas.openxmlformats.org/drawingml/2006/table">
            <a:tbl>
              <a:tblPr firstRow="1" bandRow="1">
                <a:noFill/>
                <a:tableStyleId>{8BC5C7C3-6007-4B8A-8FE2-D62D468A4227}</a:tableStyleId>
              </a:tblPr>
              <a:tblGrid>
                <a:gridCol w="78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8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a[0]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a[1]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a[2]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a[3]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a[4]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a[5]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a[6]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a[7]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a[8]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a[9]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FFFF00"/>
                          </a:solidFill>
                        </a:rPr>
                        <a:t>(0,0)</a:t>
                      </a:r>
                      <a:endParaRPr sz="18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FFFF00"/>
                          </a:solidFill>
                        </a:rPr>
                        <a:t>(0,1)</a:t>
                      </a:r>
                      <a:endParaRPr sz="18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FFFF00"/>
                          </a:solidFill>
                        </a:rPr>
                        <a:t>(0,2)</a:t>
                      </a:r>
                      <a:endParaRPr sz="18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FFFF00"/>
                          </a:solidFill>
                        </a:rPr>
                        <a:t>(0,3)</a:t>
                      </a:r>
                      <a:endParaRPr sz="18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FFFF00"/>
                          </a:solidFill>
                        </a:rPr>
                        <a:t>(0,4)</a:t>
                      </a:r>
                      <a:endParaRPr sz="18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E2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161E21"/>
                          </a:solidFill>
                        </a:rPr>
                        <a:t>(1,0)</a:t>
                      </a:r>
                      <a:endParaRPr sz="1800" u="none" strike="noStrike" cap="none">
                        <a:solidFill>
                          <a:srgbClr val="161E2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E2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161E21"/>
                          </a:solidFill>
                        </a:rPr>
                        <a:t>(1,1)</a:t>
                      </a:r>
                      <a:endParaRPr sz="1800" u="none" strike="noStrike" cap="none">
                        <a:solidFill>
                          <a:srgbClr val="161E2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E2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161E21"/>
                          </a:solidFill>
                        </a:rPr>
                        <a:t>(1,2)</a:t>
                      </a:r>
                      <a:endParaRPr sz="1800" u="none" strike="noStrike" cap="none">
                        <a:solidFill>
                          <a:srgbClr val="161E21"/>
                        </a:solidFill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E2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161E21"/>
                          </a:solidFill>
                        </a:rPr>
                        <a:t>(1,3)</a:t>
                      </a:r>
                      <a:endParaRPr sz="1800" u="none" strike="noStrike" cap="none">
                        <a:solidFill>
                          <a:srgbClr val="161E2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E2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161E21"/>
                          </a:solidFill>
                        </a:rPr>
                        <a:t>(1,4)</a:t>
                      </a:r>
                      <a:endParaRPr sz="1800" u="none" strike="noStrike" cap="none">
                        <a:solidFill>
                          <a:srgbClr val="161E2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7" name="Google Shape;377;p25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609599" y="1733006"/>
            <a:ext cx="37882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BlockSize =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ThreadNum = 5</a:t>
            </a:r>
            <a:endParaRPr sz="18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2795451" y="4590453"/>
            <a:ext cx="35095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(blockIdx.x , threadIdx.x)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148045" y="3453164"/>
            <a:ext cx="461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#1</a:t>
            </a:r>
            <a:endParaRPr sz="18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≥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1458690" y="1808480"/>
            <a:ext cx="217714" cy="24384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676403" y="1733006"/>
            <a:ext cx="1354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tasks</a:t>
            </a:r>
            <a:endParaRPr sz="1800" b="1">
              <a:solidFill>
                <a:srgbClr val="92D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2286000" y="2194671"/>
            <a:ext cx="217714" cy="24384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2512422" y="2102338"/>
            <a:ext cx="24166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threads = 2*5</a:t>
            </a:r>
            <a:endParaRPr sz="1800" b="1">
              <a:solidFill>
                <a:srgbClr val="92D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(2) (1/3)</a:t>
            </a:r>
            <a:endParaRPr/>
          </a:p>
        </p:txBody>
      </p:sp>
      <p:graphicFrame>
        <p:nvGraphicFramePr>
          <p:cNvPr id="393" name="Google Shape;393;p26"/>
          <p:cNvGraphicFramePr/>
          <p:nvPr/>
        </p:nvGraphicFramePr>
        <p:xfrm>
          <a:off x="609599" y="2787606"/>
          <a:ext cx="7881250" cy="2253800"/>
        </p:xfrm>
        <a:graphic>
          <a:graphicData uri="http://schemas.openxmlformats.org/drawingml/2006/table">
            <a:tbl>
              <a:tblPr firstRow="1" bandRow="1">
                <a:noFill/>
                <a:tableStyleId>{8BC5C7C3-6007-4B8A-8FE2-D62D468A4227}</a:tableStyleId>
              </a:tblPr>
              <a:tblGrid>
                <a:gridCol w="78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8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a[0]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a[1]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a[2]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a[3]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a[4]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a[5]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a[6]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a[7]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a[8]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a[9]</a:t>
                      </a:r>
                      <a:endParaRPr sz="1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(0,0)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(0,1)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(0,2)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(0,3)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(0,4)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(0,0)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(0,1)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C0B8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(0,2)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0A2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(0,3)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(0,4)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4" name="Google Shape;394;p26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609599" y="1733006"/>
            <a:ext cx="37882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BlockSize = 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ThreadNum = 5</a:t>
            </a:r>
            <a:endParaRPr sz="18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2795451" y="5810530"/>
            <a:ext cx="35095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(blockIdx.x , threadIdx.x)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148045" y="3453164"/>
            <a:ext cx="461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#1</a:t>
            </a:r>
            <a:endParaRPr sz="18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182878" y="4434658"/>
            <a:ext cx="461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#2</a:t>
            </a:r>
            <a:endParaRPr sz="18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" name="Google Shape;399;p26"/>
          <p:cNvCxnSpPr/>
          <p:nvPr/>
        </p:nvCxnSpPr>
        <p:spPr>
          <a:xfrm>
            <a:off x="644432" y="5329646"/>
            <a:ext cx="1558837" cy="8708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0" name="Google Shape;400;p26"/>
          <p:cNvSpPr txBox="1"/>
          <p:nvPr/>
        </p:nvSpPr>
        <p:spPr>
          <a:xfrm>
            <a:off x="644432" y="5251265"/>
            <a:ext cx="1558837" cy="383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stripe size</a:t>
            </a: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6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&lt;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1458690" y="1808480"/>
            <a:ext cx="217714" cy="24384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1676403" y="1733006"/>
            <a:ext cx="1354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tasks</a:t>
            </a:r>
            <a:endParaRPr sz="1800" b="1">
              <a:solidFill>
                <a:srgbClr val="92D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2286000" y="2194671"/>
            <a:ext cx="217714" cy="24384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2512422" y="2102338"/>
            <a:ext cx="21945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threads = 1*5</a:t>
            </a:r>
            <a:endParaRPr sz="1800" b="1">
              <a:solidFill>
                <a:srgbClr val="92D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(2) (2/3)</a:t>
            </a:r>
            <a:endParaRPr/>
          </a:p>
        </p:txBody>
      </p:sp>
      <p:sp>
        <p:nvSpPr>
          <p:cNvPr id="413" name="Google Shape;413;p27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446838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Increment N-element vector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/>
              <a:t> by scalar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4" name="Google Shape;414;p27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300038" y="2341563"/>
            <a:ext cx="3959225" cy="33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program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increment_cpu(float *a, float *b, int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for(int idx=0;idx&lt;N;idx++)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a[idx]=a[idx]+b;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increment_cpu(a,b,N);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7"/>
          <p:cNvSpPr txBox="1"/>
          <p:nvPr/>
        </p:nvSpPr>
        <p:spPr>
          <a:xfrm>
            <a:off x="4257675" y="2341563"/>
            <a:ext cx="4860925" cy="3970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CUDA program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__global__ void increment_gpu(float *a, float *b, int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int TotalThread = gridDim.x*blockDim.x;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int stripe = N / TotalThread;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int head = (blockIdx.x*blockDim.x + threadIdx.x)*stripe;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for(int i = head;i&lt;(head+stripe);i++)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a[i]=a[i]+b;</a:t>
            </a: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dim3 dimBlock(blocksize);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dim3 dimGrid(ceil(N/(float)blocksize));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increment_gpu&lt;&lt;&lt;dimGrid,dimBlock&gt;&gt;&gt;(a,b,N);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27"/>
          <p:cNvSpPr/>
          <p:nvPr/>
        </p:nvSpPr>
        <p:spPr>
          <a:xfrm rot="694967">
            <a:off x="2958044" y="3574948"/>
            <a:ext cx="1421869" cy="28892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&lt;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27"/>
          <p:cNvSpPr txBox="1"/>
          <p:nvPr/>
        </p:nvSpPr>
        <p:spPr>
          <a:xfrm>
            <a:off x="426720" y="6488668"/>
            <a:ext cx="175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main_gpu_2.cu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/>
              <a:t>Data Decomposition Example:</a:t>
            </a:r>
            <a:br>
              <a:rPr lang="en-US"/>
            </a:br>
            <a:r>
              <a:rPr lang="en-US"/>
              <a:t>Increment Array Elements (2) (3/3)</a:t>
            </a:r>
            <a:endParaRPr/>
          </a:p>
        </p:txBody>
      </p:sp>
      <p:sp>
        <p:nvSpPr>
          <p:cNvPr id="426" name="Google Shape;426;p28"/>
          <p:cNvSpPr txBox="1">
            <a:spLocks noGrp="1"/>
          </p:cNvSpPr>
          <p:nvPr>
            <p:ph type="body" idx="1"/>
          </p:nvPr>
        </p:nvSpPr>
        <p:spPr>
          <a:xfrm>
            <a:off x="946150" y="1828800"/>
            <a:ext cx="6446838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Increment N-element vector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/>
              <a:t> by scalar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7" name="Google Shape;427;p28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428" name="Google Shape;42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616" y="1695568"/>
            <a:ext cx="438385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3475" y="1650424"/>
            <a:ext cx="4166997" cy="51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8"/>
          <p:cNvSpPr txBox="1"/>
          <p:nvPr/>
        </p:nvSpPr>
        <p:spPr>
          <a:xfrm>
            <a:off x="87086" y="101170"/>
            <a:ext cx="1053737" cy="276999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28"/>
          <p:cNvSpPr txBox="1"/>
          <p:nvPr/>
        </p:nvSpPr>
        <p:spPr>
          <a:xfrm>
            <a:off x="5794965" y="160991"/>
            <a:ext cx="3196046" cy="461665"/>
          </a:xfrm>
          <a:prstGeom prst="rect">
            <a:avLst/>
          </a:prstGeom>
          <a:solidFill>
            <a:schemeClr val="lt1"/>
          </a:solidFill>
          <a:ln w="19050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threads &lt; 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28"/>
          <p:cNvSpPr txBox="1"/>
          <p:nvPr/>
        </p:nvSpPr>
        <p:spPr>
          <a:xfrm>
            <a:off x="426720" y="6488668"/>
            <a:ext cx="175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main_gpu_2.cu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"/>
          <p:cNvSpPr txBox="1"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438" name="Google Shape;438;p29"/>
          <p:cNvSpPr txBox="1">
            <a:spLocks noGrp="1"/>
          </p:cNvSpPr>
          <p:nvPr>
            <p:ph type="body" idx="1"/>
          </p:nvPr>
        </p:nvSpPr>
        <p:spPr>
          <a:xfrm>
            <a:off x="609598" y="2160590"/>
            <a:ext cx="6975567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NVIDIA CUDA Toolkit Documentations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http://docs.nvidia.com/cuda/</a:t>
            </a:r>
            <a:r>
              <a:rPr lang="en-US"/>
              <a:t>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Recommended learning materials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CUDA Programming C/C++ basic (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https://www.youtube.com/watch?v=kyL2rj_Se3M</a:t>
            </a:r>
            <a:r>
              <a:rPr lang="en-US"/>
              <a:t> )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439" name="Google Shape;439;p29"/>
          <p:cNvSpPr txBox="1">
            <a:spLocks noGrp="1"/>
          </p:cNvSpPr>
          <p:nvPr>
            <p:ph type="sldNum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Microsoft Office PowerPoint</Application>
  <PresentationFormat>如螢幕大小 (4:3)</PresentationFormat>
  <Paragraphs>346</Paragraphs>
  <Slides>29</Slides>
  <Notes>29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Noto Sans Symbols</vt:lpstr>
      <vt:lpstr>Palatino</vt:lpstr>
      <vt:lpstr>Arial</vt:lpstr>
      <vt:lpstr>Calibri</vt:lpstr>
      <vt:lpstr>Comic Sans MS</vt:lpstr>
      <vt:lpstr>Times New Roman</vt:lpstr>
      <vt:lpstr>多面向</vt:lpstr>
      <vt:lpstr>Microsoft Visio 2003-2010 繪圖</vt:lpstr>
      <vt:lpstr>Basic CUDA  Programming</vt:lpstr>
      <vt:lpstr>From Graphics to General Purpose Processing – CPU vs GPU</vt:lpstr>
      <vt:lpstr>Heterogeneous computing:  CPU+GPU Cooperation</vt:lpstr>
      <vt:lpstr>Heterogeneous computing: CUDA Code Execution</vt:lpstr>
      <vt:lpstr>Heterogeneous computing: NIVIDA G80 series</vt:lpstr>
      <vt:lpstr>CUDA Programming Model (1/7)</vt:lpstr>
      <vt:lpstr>CUDA Programming Model (2/7)</vt:lpstr>
      <vt:lpstr>CUDA Programming Model (3/7)</vt:lpstr>
      <vt:lpstr>CUDA Programming Model (4/7)</vt:lpstr>
      <vt:lpstr>CUDA Programming Model (5/7)</vt:lpstr>
      <vt:lpstr>CUDA Programming Model (6/7)</vt:lpstr>
      <vt:lpstr>CUDA Programming Model (7/7)</vt:lpstr>
      <vt:lpstr>Heterogeneous computing: NVIDIA CUDA Compiler (NVCC)</vt:lpstr>
      <vt:lpstr>CUDA C/C++ Basic</vt:lpstr>
      <vt:lpstr>GPU Memory Allocation/Release</vt:lpstr>
      <vt:lpstr>Data Copies</vt:lpstr>
      <vt:lpstr>Function Qualifiers</vt:lpstr>
      <vt:lpstr>Variable Qualifiers (GPU code)</vt:lpstr>
      <vt:lpstr>CUDA Built-in Device Variables</vt:lpstr>
      <vt:lpstr>Launching Kernels</vt:lpstr>
      <vt:lpstr>Data Decomposition</vt:lpstr>
      <vt:lpstr>Data Decomposition Example: Increment Array Elements (1) (1/4)</vt:lpstr>
      <vt:lpstr>Data Decomposition Example: Increment Array Elements (1) (2/4)</vt:lpstr>
      <vt:lpstr>Data Decomposition Example: Increment Array Elements (1) (3/4)</vt:lpstr>
      <vt:lpstr>Data Decomposition Example: Increment Array Elements (1) (4/4)</vt:lpstr>
      <vt:lpstr>Data Decomposition Example: Increment Array Elements (2) (1/3)</vt:lpstr>
      <vt:lpstr>Data Decomposition Example: Increment Array Elements (2) (2/3)</vt:lpstr>
      <vt:lpstr>Data Decomposition Example: Increment Array Elements (2) (3/3)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CUDA  Programming</dc:title>
  <dc:creator>chenyen</dc:creator>
  <cp:lastModifiedBy>雅淇 莊</cp:lastModifiedBy>
  <cp:revision>2</cp:revision>
  <dcterms:created xsi:type="dcterms:W3CDTF">2014-05-29T14:08:15Z</dcterms:created>
  <dcterms:modified xsi:type="dcterms:W3CDTF">2025-05-22T06:08:47Z</dcterms:modified>
</cp:coreProperties>
</file>